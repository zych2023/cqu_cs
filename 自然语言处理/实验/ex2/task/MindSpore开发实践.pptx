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gif" ContentType="image/gi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3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3"/>
    <p:sldMasterId id="2147483797" r:id="rId4"/>
    <p:sldMasterId id="2147483816" r:id="rId5"/>
    <p:sldMasterId id="2147483683" r:id="rId6"/>
    <p:sldMasterId id="2147483896" r:id="rId7"/>
  </p:sldMasterIdLst>
  <p:notesMasterIdLst>
    <p:notesMasterId r:id="rId45"/>
  </p:notesMasterIdLst>
  <p:handoutMasterIdLst>
    <p:handoutMasterId r:id="rId46"/>
  </p:handoutMasterIdLst>
  <p:sldIdLst>
    <p:sldId id="283" r:id="rId8"/>
    <p:sldId id="333" r:id="rId9"/>
    <p:sldId id="313" r:id="rId10"/>
    <p:sldId id="314" r:id="rId11"/>
    <p:sldId id="315" r:id="rId12"/>
    <p:sldId id="310" r:id="rId13"/>
    <p:sldId id="339" r:id="rId14"/>
    <p:sldId id="312" r:id="rId15"/>
    <p:sldId id="311" r:id="rId16"/>
    <p:sldId id="347" r:id="rId17"/>
    <p:sldId id="334" r:id="rId18"/>
    <p:sldId id="316" r:id="rId19"/>
    <p:sldId id="321" r:id="rId20"/>
    <p:sldId id="320" r:id="rId21"/>
    <p:sldId id="348" r:id="rId22"/>
    <p:sldId id="319" r:id="rId23"/>
    <p:sldId id="335" r:id="rId24"/>
    <p:sldId id="324" r:id="rId25"/>
    <p:sldId id="323" r:id="rId26"/>
    <p:sldId id="322" r:id="rId27"/>
    <p:sldId id="325" r:id="rId28"/>
    <p:sldId id="326" r:id="rId29"/>
    <p:sldId id="327" r:id="rId30"/>
    <p:sldId id="336" r:id="rId31"/>
    <p:sldId id="343" r:id="rId32"/>
    <p:sldId id="329" r:id="rId33"/>
    <p:sldId id="328" r:id="rId34"/>
    <p:sldId id="330" r:id="rId35"/>
    <p:sldId id="337" r:id="rId36"/>
    <p:sldId id="331" r:id="rId37"/>
    <p:sldId id="340" r:id="rId38"/>
    <p:sldId id="338" r:id="rId39"/>
    <p:sldId id="341" r:id="rId40"/>
    <p:sldId id="342" r:id="rId41"/>
    <p:sldId id="350" r:id="rId42"/>
    <p:sldId id="349" r:id="rId43"/>
    <p:sldId id="280" r:id="rId44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333"/>
          </p14:sldIdLst>
        </p14:section>
        <p14:section name="章节页" id="{FD05EE94-C931-8C4B-83A2-004B32AA1207}">
          <p14:sldIdLst>
            <p14:sldId id="313"/>
            <p14:sldId id="314"/>
            <p14:sldId id="315"/>
            <p14:sldId id="310"/>
            <p14:sldId id="339"/>
            <p14:sldId id="312"/>
            <p14:sldId id="311"/>
            <p14:sldId id="347"/>
            <p14:sldId id="334"/>
            <p14:sldId id="316"/>
            <p14:sldId id="321"/>
            <p14:sldId id="320"/>
            <p14:sldId id="348"/>
            <p14:sldId id="319"/>
            <p14:sldId id="335"/>
            <p14:sldId id="324"/>
            <p14:sldId id="323"/>
            <p14:sldId id="322"/>
            <p14:sldId id="325"/>
            <p14:sldId id="326"/>
            <p14:sldId id="327"/>
            <p14:sldId id="336"/>
            <p14:sldId id="343"/>
            <p14:sldId id="329"/>
            <p14:sldId id="328"/>
            <p14:sldId id="330"/>
            <p14:sldId id="337"/>
            <p14:sldId id="331"/>
            <p14:sldId id="340"/>
            <p14:sldId id="338"/>
            <p14:sldId id="341"/>
            <p14:sldId id="342"/>
          </p14:sldIdLst>
        </p14:section>
        <p14:section name="结束页" id="{3F9D54A7-3BE2-2540-BB4C-DFE5509085F3}">
          <p14:sldIdLst>
            <p14:sldId id="350"/>
            <p14:sldId id="349"/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C4D2"/>
    <a:srgbClr val="888888"/>
    <a:srgbClr val="BEE9EE"/>
    <a:srgbClr val="94DAE2"/>
    <a:srgbClr val="30B5C5"/>
    <a:srgbClr val="000000"/>
    <a:srgbClr val="FFFFFF"/>
    <a:srgbClr val="E9002F"/>
    <a:srgbClr val="595757"/>
    <a:srgbClr val="2218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504" autoAdjust="0"/>
  </p:normalViewPr>
  <p:slideViewPr>
    <p:cSldViewPr snapToGrid="0" snapToObjects="1">
      <p:cViewPr varScale="1">
        <p:scale>
          <a:sx n="86" d="100"/>
          <a:sy n="86" d="100"/>
        </p:scale>
        <p:origin x="-48" y="62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Master" Target="slideMasters/slideMaster5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viewProps" Target="viewProps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11/16/2020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11/16/2020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74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AC5458-9D8F-496A-8CA9-D1357EC7E62C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5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AC5458-9D8F-496A-8CA9-D1357EC7E62C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922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AC5458-9D8F-496A-8CA9-D1357EC7E62C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9638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11A6BF-B02B-4178-B152-462194CF591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386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同时，在卷积层中通常我们还会采用激活函数进行非线性变换，常用的激活函数有。。。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11A6BF-B02B-4178-B152-462194CF591A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903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883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8410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8733E-C4C9-8D4D-8DDA-CAB265AC0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5194953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41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/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DBC59C-CE55-E340-A3AE-F88AAF0D7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>
            <a:extLst>
              <a:ext uri="{FF2B5EF4-FFF2-40B4-BE49-F238E27FC236}">
                <a16:creationId xmlns:a16="http://schemas.microsoft.com/office/drawing/2014/main" id="{3049C48A-4CAE-8940-8A29-89DE0543DF4C}"/>
              </a:ext>
            </a:extLst>
          </p:cNvPr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  <p:extLst>
      <p:ext uri="{BB962C8B-B14F-4D97-AF65-F5344CB8AC3E}">
        <p14:creationId xmlns:p14="http://schemas.microsoft.com/office/powerpoint/2010/main" val="351448738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/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908F03-BBCC-164B-BE54-2E836D6E7C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3BE9F9B-07D9-DD4C-9CEF-250804A414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A299E5-0026-5A42-88AA-B3A7F29D3A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4266986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/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2D1BCC-0781-514D-8FE8-12F4AF64BC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3737076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41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F7C7B5-0135-F749-B910-7325E96AE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463">
              <a:lnSpc>
                <a:spcPct val="70000"/>
              </a:lnSpc>
              <a:buFont typeface="+mj-lt"/>
              <a:buAutoNum type="arabicPeriod"/>
              <a:tabLst/>
              <a:defRPr sz="2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12750" indent="-398463">
              <a:buFont typeface="+mj-lt"/>
              <a:buAutoNum type="arabicPeriod"/>
              <a:tabLst/>
              <a:defRPr/>
            </a:lvl2pPr>
            <a:lvl3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168422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8579137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2" pos="384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515128" y="280845"/>
            <a:ext cx="10519708" cy="59021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38528" y="1361601"/>
            <a:ext cx="10519708" cy="4351338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</p:txBody>
      </p:sp>
      <p:sp>
        <p:nvSpPr>
          <p:cNvPr id="7" name="灯片编号占位符 6"/>
          <p:cNvSpPr txBox="1">
            <a:spLocks/>
          </p:cNvSpPr>
          <p:nvPr userDrawn="1"/>
        </p:nvSpPr>
        <p:spPr>
          <a:xfrm>
            <a:off x="0" y="6492876"/>
            <a:ext cx="1057977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ADB7B23-4BC0-4FCE-904C-84E70E67ADA1}" type="slidenum">
              <a:rPr lang="zh-CN" altLang="en-US" sz="1200" b="0" smtClean="0"/>
              <a:pPr/>
              <a:t>‹#›</a:t>
            </a:fld>
            <a:endParaRPr lang="zh-CN" altLang="en-US" sz="1200" b="0" dirty="0"/>
          </a:p>
        </p:txBody>
      </p:sp>
    </p:spTree>
    <p:extLst>
      <p:ext uri="{BB962C8B-B14F-4D97-AF65-F5344CB8AC3E}">
        <p14:creationId xmlns:p14="http://schemas.microsoft.com/office/powerpoint/2010/main" val="186566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F7C7B5-0135-F749-B910-7325E96AE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463">
              <a:lnSpc>
                <a:spcPct val="70000"/>
              </a:lnSpc>
              <a:buFont typeface="+mj-lt"/>
              <a:buAutoNum type="arabicPeriod"/>
              <a:tabLst/>
              <a:defRPr sz="2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12750" indent="-398463">
              <a:buFont typeface="+mj-lt"/>
              <a:buAutoNum type="arabicPeriod"/>
              <a:tabLst/>
              <a:defRPr/>
            </a:lvl2pPr>
            <a:lvl3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1058136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528" y="365126"/>
            <a:ext cx="10519708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528" y="1825625"/>
            <a:ext cx="10519708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527" y="6356351"/>
            <a:ext cx="2744272" cy="365125"/>
          </a:xfrm>
          <a:prstGeom prst="rect">
            <a:avLst/>
          </a:prstGeom>
        </p:spPr>
        <p:txBody>
          <a:bodyPr/>
          <a:lstStyle/>
          <a:p>
            <a:fld id="{C85591FA-E63C-4DFB-A233-B412D069D415}" type="datetimeFigureOut">
              <a:rPr lang="zh-CN" altLang="en-US" smtClean="0">
                <a:solidFill>
                  <a:prstClr val="black"/>
                </a:solidFill>
              </a:rPr>
              <a:pPr/>
              <a:t>2020/11/16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40178" y="6356351"/>
            <a:ext cx="4116408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3964" y="6356351"/>
            <a:ext cx="2744272" cy="365125"/>
          </a:xfrm>
          <a:prstGeom prst="rect">
            <a:avLst/>
          </a:prstGeom>
        </p:spPr>
        <p:txBody>
          <a:bodyPr/>
          <a:lstStyle/>
          <a:p>
            <a:fld id="{0BE8CFCB-7F54-4F7B-B703-142AEE090C9F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0690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tif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tiff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E8B5C1-4D37-8442-902D-D86F9BBDE27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92" r:id="rId3"/>
    <p:sldLayoutId id="2147483824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59" userDrawn="1">
          <p15:clr>
            <a:srgbClr val="F26B43"/>
          </p15:clr>
        </p15:guide>
        <p15:guide id="2" pos="3841" userDrawn="1">
          <p15:clr>
            <a:srgbClr val="F26B43"/>
          </p15:clr>
        </p15:guide>
        <p15:guide id="3" pos="565" userDrawn="1">
          <p15:clr>
            <a:srgbClr val="F26B43"/>
          </p15:clr>
        </p15:guide>
        <p15:guide id="4" orient="horz" pos="4007" userDrawn="1">
          <p15:clr>
            <a:srgbClr val="F26B43"/>
          </p15:clr>
        </p15:guide>
        <p15:guide id="5" orient="horz" pos="1235" userDrawn="1">
          <p15:clr>
            <a:srgbClr val="F26B43"/>
          </p15:clr>
        </p15:guide>
        <p15:guide id="6" orient="horz" pos="55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4" r:id="rId2"/>
    <p:sldLayoutId id="2147483895" r:id="rId3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792140-33FB-E045-9071-EE8DB65F2A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16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849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890849"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44546A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44546A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44546A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prstClr val="black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44546A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44546A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44546A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44546A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prstClr val="black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44546A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44546A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44546A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44546A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185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20.png"/><Relationship Id="rId2" Type="http://schemas.openxmlformats.org/officeDocument/2006/relationships/tags" Target="../tags/tag1.xml"/><Relationship Id="rId1" Type="http://schemas.openxmlformats.org/officeDocument/2006/relationships/customXml" Target="../../customXml/item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27.png"/><Relationship Id="rId2" Type="http://schemas.openxmlformats.org/officeDocument/2006/relationships/tags" Target="../tags/tag2.xml"/><Relationship Id="rId1" Type="http://schemas.openxmlformats.org/officeDocument/2006/relationships/customXml" Target="../../customXml/item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270.pn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gif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ee.com/mindspore/course" TargetMode="External"/><Relationship Id="rId7" Type="http://schemas.openxmlformats.org/officeDocument/2006/relationships/image" Target="../media/image42.png"/><Relationship Id="rId2" Type="http://schemas.openxmlformats.org/officeDocument/2006/relationships/hyperlink" Target="https://www.mindspore.cn/community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MindSpore</a:t>
            </a:r>
            <a:r>
              <a:rPr lang="zh-CN" altLang="en-US" dirty="0"/>
              <a:t>开发实践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F3DB8AC-5DE9-5548-8697-C9055F7FFC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0" tIns="0" rIns="0" bIns="0"/>
          <a:lstStyle/>
          <a:p>
            <a:r>
              <a:rPr lang="zh-CN" altLang="en-US" dirty="0"/>
              <a:t>作者：</a:t>
            </a:r>
            <a:endParaRPr lang="en-US" altLang="zh-CN" dirty="0"/>
          </a:p>
          <a:p>
            <a:r>
              <a:rPr lang="zh-CN" altLang="en-US" dirty="0"/>
              <a:t>日期：</a:t>
            </a:r>
            <a:r>
              <a:rPr lang="en-US" altLang="zh-CN" dirty="0"/>
              <a:t>2020/10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566F3-A3A5-4146-9236-C652EFF2FB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Security Level: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95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10D792-4102-9E49-9911-6FCBEA89B2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33620" y="1843088"/>
            <a:ext cx="10122060" cy="4170534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编程概念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案例介绍</a:t>
            </a:r>
            <a:endParaRPr lang="en-US" altLang="zh-CN" dirty="0"/>
          </a:p>
          <a:p>
            <a:r>
              <a:rPr lang="zh-CN" altLang="en-US" dirty="0"/>
              <a:t>数据处理</a:t>
            </a:r>
            <a:endParaRPr lang="en-US" altLang="zh-CN" dirty="0"/>
          </a:p>
          <a:p>
            <a:r>
              <a:rPr lang="zh-CN" altLang="en-US" dirty="0"/>
              <a:t>模型定义</a:t>
            </a:r>
            <a:endParaRPr lang="en-US" altLang="zh-CN" dirty="0"/>
          </a:p>
          <a:p>
            <a:r>
              <a:rPr lang="zh-CN" altLang="en-US" dirty="0"/>
              <a:t>模型训练</a:t>
            </a:r>
            <a:endParaRPr lang="en-US" altLang="zh-CN" dirty="0"/>
          </a:p>
          <a:p>
            <a:r>
              <a:rPr lang="zh-CN" altLang="en-US" dirty="0"/>
              <a:t>模型推理</a:t>
            </a:r>
          </a:p>
          <a:p>
            <a:r>
              <a:rPr lang="zh-CN" altLang="en-US" dirty="0"/>
              <a:t>网络迁移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059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编程概念：张量（</a:t>
            </a:r>
            <a:r>
              <a:rPr lang="en-US" altLang="zh-CN" dirty="0"/>
              <a:t>Tensor</a:t>
            </a:r>
            <a:r>
              <a:rPr lang="zh-CN" altLang="en-US" dirty="0"/>
              <a:t>）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2"/>
          </p:nvPr>
        </p:nvSpPr>
        <p:spPr>
          <a:xfrm>
            <a:off x="726021" y="1512875"/>
            <a:ext cx="10733557" cy="1261721"/>
          </a:xfrm>
        </p:spPr>
        <p:txBody>
          <a:bodyPr/>
          <a:lstStyle/>
          <a:p>
            <a:r>
              <a:rPr lang="zh-CN" altLang="en-US" dirty="0"/>
              <a:t>张量是</a:t>
            </a:r>
            <a:r>
              <a:rPr lang="en-US" altLang="zh-CN" dirty="0"/>
              <a:t> </a:t>
            </a:r>
            <a:r>
              <a:rPr lang="en-US" altLang="zh-CN" dirty="0" err="1"/>
              <a:t>MindSpore</a:t>
            </a:r>
            <a:r>
              <a:rPr lang="zh-CN" altLang="en-US" dirty="0"/>
              <a:t>中最基础的数据结构，是计算的基础 ：</a:t>
            </a:r>
          </a:p>
          <a:p>
            <a:pPr lvl="1"/>
            <a:r>
              <a:rPr lang="zh-CN" altLang="en-US" dirty="0"/>
              <a:t>是</a:t>
            </a:r>
            <a:r>
              <a:rPr lang="en-US" altLang="zh-CN" dirty="0"/>
              <a:t>Parameter</a:t>
            </a:r>
            <a:r>
              <a:rPr lang="zh-CN" altLang="en-US" dirty="0"/>
              <a:t>（权重和偏置）的载体，</a:t>
            </a:r>
            <a:r>
              <a:rPr lang="en-US" altLang="zh-CN" dirty="0"/>
              <a:t>Feature</a:t>
            </a:r>
            <a:r>
              <a:rPr lang="zh-CN" altLang="en-US" dirty="0"/>
              <a:t> </a:t>
            </a:r>
            <a:r>
              <a:rPr lang="en-US" altLang="zh-CN" dirty="0"/>
              <a:t>Map</a:t>
            </a:r>
            <a:r>
              <a:rPr lang="zh-CN" altLang="en-US" dirty="0"/>
              <a:t>的载体；</a:t>
            </a:r>
          </a:p>
          <a:p>
            <a:pPr lvl="1"/>
            <a:r>
              <a:rPr lang="zh-CN" altLang="en-US" dirty="0"/>
              <a:t>可与</a:t>
            </a:r>
            <a:r>
              <a:rPr lang="en-US" altLang="zh-CN" dirty="0" err="1"/>
              <a:t>numpy.ndarray</a:t>
            </a:r>
            <a:r>
              <a:rPr lang="zh-CN" altLang="en-US" dirty="0"/>
              <a:t>无缝转换。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51975" y="6356350"/>
            <a:ext cx="2744788" cy="365125"/>
          </a:xfrm>
          <a:prstGeom prst="rect">
            <a:avLst/>
          </a:prstGeom>
        </p:spPr>
        <p:txBody>
          <a:bodyPr/>
          <a:lstStyle/>
          <a:p>
            <a:fld id="{BADB7B23-4BC0-4FCE-904C-84E70E67ADA1}" type="slidenum">
              <a:rPr lang="zh-CN" altLang="en-US" smtClean="0">
                <a:solidFill>
                  <a:prstClr val="black"/>
                </a:solidFill>
              </a:rPr>
              <a:pPr/>
              <a:t>3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75029" y="2459987"/>
            <a:ext cx="4030071" cy="1815882"/>
          </a:xfrm>
          <a:prstGeom prst="rect">
            <a:avLst/>
          </a:prstGeom>
          <a:solidFill>
            <a:srgbClr val="56C4D2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Tensor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声明和使用</a:t>
            </a:r>
          </a:p>
          <a:p>
            <a:pPr lvl="1" indent="-180000"/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na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= </a:t>
            </a: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np.ones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([2, 2], np.float32)</a:t>
            </a:r>
          </a:p>
          <a:p>
            <a:pPr lvl="1" indent="-180000"/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t1 = Tensor(</a:t>
            </a: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na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</a:p>
          <a:p>
            <a:pPr lvl="1" indent="-180000"/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assert t1.shape == (2, 2)</a:t>
            </a:r>
          </a:p>
          <a:p>
            <a:pPr lvl="1" indent="-180000"/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assert t1.dtype == ms.float32</a:t>
            </a:r>
          </a:p>
          <a:p>
            <a:pPr lvl="1" indent="-180000"/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t2 = Tensor([[1, 1], [1, 1]])</a:t>
            </a:r>
          </a:p>
          <a:p>
            <a:pPr lvl="1" indent="-180000"/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t2.asnumpy()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275029" y="4275869"/>
            <a:ext cx="4030071" cy="1631216"/>
          </a:xfrm>
          <a:prstGeom prst="rect">
            <a:avLst/>
          </a:prstGeom>
          <a:solidFill>
            <a:srgbClr val="56C4D2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Tensor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是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Parameter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的数据载体</a:t>
            </a:r>
          </a:p>
          <a:p>
            <a:pPr marL="355600" lvl="1"/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Parameter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的属性：</a:t>
            </a:r>
          </a:p>
          <a:p>
            <a:pPr marL="742990" lvl="1" indent="-285750">
              <a:buFont typeface="Arial" panose="020B0604020202020204" pitchFamily="34" charset="0"/>
              <a:buChar char="•"/>
            </a:pP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default_input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: Tensor</a:t>
            </a:r>
          </a:p>
          <a:p>
            <a:pPr marL="742990" lvl="1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name: </a:t>
            </a: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str</a:t>
            </a:r>
            <a:endParaRPr lang="en-US" altLang="zh-CN" sz="16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742990" lvl="1" indent="-285750">
              <a:buFont typeface="Arial" panose="020B0604020202020204" pitchFamily="34" charset="0"/>
              <a:buChar char="•"/>
            </a:pP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requires_grad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: bool</a:t>
            </a:r>
          </a:p>
          <a:p>
            <a:pPr marL="742990" lvl="1" indent="-285750">
              <a:buFont typeface="Arial" panose="020B0604020202020204" pitchFamily="34" charset="0"/>
              <a:buChar char="•"/>
            </a:pP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layerwise_parallel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: bool</a:t>
            </a:r>
            <a:endParaRPr lang="zh-CN" altLang="en-US" sz="16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388991" y="2459988"/>
            <a:ext cx="3080825" cy="3447098"/>
          </a:xfrm>
          <a:prstGeom prst="rect">
            <a:avLst/>
          </a:prstGeom>
          <a:solidFill>
            <a:srgbClr val="56C4D2"/>
          </a:solidFill>
        </p:spPr>
        <p:txBody>
          <a:bodyPr wrap="square" rtlCol="0">
            <a:no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Tensor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常见的操作</a:t>
            </a:r>
            <a:endParaRPr lang="en-US" altLang="zh-CN" sz="16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获取</a:t>
            </a:r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Tensor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的形状</a:t>
            </a:r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.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shape</a:t>
            </a:r>
          </a:p>
          <a:p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获取</a:t>
            </a:r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Tensor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的大小</a:t>
            </a:r>
            <a:endParaRPr lang="en-US" altLang="zh-CN" sz="1600" dirty="0">
              <a:solidFill>
                <a:srgbClr val="00B05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size()</a:t>
            </a:r>
          </a:p>
          <a:p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获取</a:t>
            </a:r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Tensor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的维数</a:t>
            </a:r>
            <a:endParaRPr lang="en-US" altLang="zh-CN" sz="1600" dirty="0">
              <a:solidFill>
                <a:srgbClr val="00B05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dim()</a:t>
            </a:r>
          </a:p>
          <a:p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获取</a:t>
            </a:r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Tensor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的数据类型</a:t>
            </a:r>
            <a:endParaRPr lang="en-US" altLang="zh-CN" sz="1600" dirty="0">
              <a:solidFill>
                <a:srgbClr val="00B05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dtype</a:t>
            </a:r>
            <a:endParaRPr lang="en-US" altLang="zh-CN" sz="16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设置</a:t>
            </a:r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Tensor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的数据类型</a:t>
            </a:r>
            <a:endParaRPr lang="en-US" altLang="zh-CN" sz="1600" dirty="0">
              <a:solidFill>
                <a:srgbClr val="00B05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set_dtype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()</a:t>
            </a:r>
          </a:p>
          <a:p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转换成</a:t>
            </a:r>
            <a:r>
              <a:rPr lang="en-US" altLang="zh-CN" sz="1600" dirty="0" err="1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Numpy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数组</a:t>
            </a:r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</a:p>
          <a:p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asnumpy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()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/>
          <a:srcRect t="2625"/>
          <a:stretch/>
        </p:blipFill>
        <p:spPr>
          <a:xfrm>
            <a:off x="549950" y="2618762"/>
            <a:ext cx="3641188" cy="2301325"/>
          </a:xfrm>
          <a:prstGeom prst="rect">
            <a:avLst/>
          </a:prstGeom>
          <a:solidFill>
            <a:srgbClr val="000000">
              <a:shade val="95000"/>
            </a:srgbClr>
          </a:solidFill>
          <a:ln w="12700" cap="sq">
            <a:noFill/>
            <a:miter lim="800000"/>
          </a:ln>
          <a:effectLst/>
        </p:spPr>
      </p:pic>
    </p:spTree>
    <p:extLst>
      <p:ext uri="{BB962C8B-B14F-4D97-AF65-F5344CB8AC3E}">
        <p14:creationId xmlns:p14="http://schemas.microsoft.com/office/powerpoint/2010/main" val="984486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编程概念：算子（</a:t>
            </a:r>
            <a:r>
              <a:rPr lang="en-US" altLang="zh-CN" dirty="0"/>
              <a:t>Operator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51975" y="6356350"/>
            <a:ext cx="2744788" cy="365125"/>
          </a:xfrm>
          <a:prstGeom prst="rect">
            <a:avLst/>
          </a:prstGeom>
        </p:spPr>
        <p:txBody>
          <a:bodyPr/>
          <a:lstStyle/>
          <a:p>
            <a:fld id="{BADB7B23-4BC0-4FCE-904C-84E70E67ADA1}" type="slidenum">
              <a:rPr lang="zh-CN" altLang="en-US" smtClean="0">
                <a:solidFill>
                  <a:prstClr val="black"/>
                </a:solidFill>
              </a:rPr>
              <a:pPr/>
              <a:t>4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729175" y="1449534"/>
            <a:ext cx="4169996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使用方式：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operations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提供单个的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Primtive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算子。一个算子对应一个原语，是最小的执行对象，需要实例化之后使用。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composite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提供一些预定义的组合算子，以及复杂的涉及图变换的算子，如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GradOperation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functional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提供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operations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composite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实例化后的对象，简化算子的调用流程。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功能：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张量操作、网络操作、数学操作、图像操作、编码操作、调试操作和量化操作。</a:t>
            </a:r>
          </a:p>
        </p:txBody>
      </p:sp>
      <p:sp>
        <p:nvSpPr>
          <p:cNvPr id="13" name="矩形 12"/>
          <p:cNvSpPr/>
          <p:nvPr/>
        </p:nvSpPr>
        <p:spPr>
          <a:xfrm>
            <a:off x="5373815" y="1449534"/>
            <a:ext cx="6096000" cy="4802244"/>
          </a:xfrm>
          <a:prstGeom prst="rect">
            <a:avLst/>
          </a:prstGeom>
          <a:solidFill>
            <a:srgbClr val="56C4D2"/>
          </a:solidFill>
        </p:spPr>
        <p:txBody>
          <a:bodyPr>
            <a:noAutofit/>
          </a:bodyPr>
          <a:lstStyle/>
          <a:p>
            <a:r>
              <a:rPr lang="en-US" altLang="zh-CN" i="1" dirty="0">
                <a:solidFill>
                  <a:schemeClr val="bg2">
                    <a:lumMod val="50000"/>
                  </a:schemeClr>
                </a:solidFill>
              </a:rPr>
              <a:t># operations</a:t>
            </a:r>
            <a:r>
              <a:rPr lang="zh-CN" altLang="en-US" i="1" dirty="0">
                <a:solidFill>
                  <a:schemeClr val="bg2">
                    <a:lumMod val="50000"/>
                  </a:schemeClr>
                </a:solidFill>
              </a:rPr>
              <a:t>，张量操作</a:t>
            </a:r>
            <a:endParaRPr lang="en-US" altLang="zh-CN" i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dirty="0"/>
              <a:t>x</a:t>
            </a:r>
            <a:r>
              <a:rPr lang="zh-CN" altLang="en-US" dirty="0"/>
              <a:t>1 = Tensor(np.array([[0, 1], [2, 1]]).astype(np.int32))</a:t>
            </a:r>
          </a:p>
          <a:p>
            <a:r>
              <a:rPr lang="en-US" altLang="zh-CN" dirty="0"/>
              <a:t>x</a:t>
            </a:r>
            <a:r>
              <a:rPr lang="zh-CN" altLang="en-US" dirty="0"/>
              <a:t>2 = Tensor(np.array([[0, 1], [2, 1]]).astype(np.int32))</a:t>
            </a:r>
          </a:p>
          <a:p>
            <a:r>
              <a:rPr lang="zh-CN" altLang="en-US" dirty="0"/>
              <a:t>op = P.Concat()</a:t>
            </a:r>
          </a:p>
          <a:p>
            <a:r>
              <a:rPr lang="zh-CN" altLang="en-US" dirty="0"/>
              <a:t>output = op((</a:t>
            </a:r>
            <a:r>
              <a:rPr lang="en-US" altLang="zh-CN" dirty="0"/>
              <a:t>x</a:t>
            </a:r>
            <a:r>
              <a:rPr lang="zh-CN" altLang="en-US" dirty="0"/>
              <a:t>1, </a:t>
            </a:r>
            <a:r>
              <a:rPr lang="en-US" altLang="zh-CN" dirty="0"/>
              <a:t>x</a:t>
            </a:r>
            <a:r>
              <a:rPr lang="zh-CN" altLang="en-US" dirty="0"/>
              <a:t>2))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i="1" dirty="0">
                <a:solidFill>
                  <a:schemeClr val="bg2">
                    <a:lumMod val="50000"/>
                  </a:schemeClr>
                </a:solidFill>
              </a:rPr>
              <a:t># functional</a:t>
            </a:r>
            <a:r>
              <a:rPr lang="zh-CN" altLang="en-US" i="1" dirty="0">
                <a:solidFill>
                  <a:schemeClr val="bg2">
                    <a:lumMod val="50000"/>
                  </a:schemeClr>
                </a:solidFill>
              </a:rPr>
              <a:t>，数学操作</a:t>
            </a:r>
            <a:endParaRPr lang="en-US" altLang="zh-CN" i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zh-CN" altLang="en-US" dirty="0"/>
              <a:t>x = Tensor(np.array([</a:t>
            </a:r>
            <a:r>
              <a:rPr lang="en-US" altLang="zh-CN" dirty="0"/>
              <a:t>-1</a:t>
            </a:r>
            <a:r>
              <a:rPr lang="zh-CN" altLang="en-US" dirty="0"/>
              <a:t>, </a:t>
            </a:r>
            <a:r>
              <a:rPr lang="en-US" altLang="zh-CN" dirty="0"/>
              <a:t>0</a:t>
            </a:r>
            <a:r>
              <a:rPr lang="zh-CN" altLang="en-US" dirty="0"/>
              <a:t>, </a:t>
            </a:r>
            <a:r>
              <a:rPr lang="en-US" altLang="zh-CN" dirty="0"/>
              <a:t>1</a:t>
            </a:r>
            <a:r>
              <a:rPr lang="zh-CN" altLang="en-US" dirty="0"/>
              <a:t>]), </a:t>
            </a:r>
            <a:r>
              <a:rPr lang="en-US" altLang="zh-CN" dirty="0" err="1"/>
              <a:t>ms</a:t>
            </a:r>
            <a:r>
              <a:rPr lang="zh-CN" altLang="en-US" dirty="0"/>
              <a:t>.float32)</a:t>
            </a:r>
            <a:endParaRPr lang="en-US" altLang="zh-CN" dirty="0"/>
          </a:p>
          <a:p>
            <a:r>
              <a:rPr lang="en-US" altLang="zh-CN" dirty="0"/>
              <a:t>y = 3</a:t>
            </a:r>
            <a:endParaRPr lang="zh-CN" altLang="en-US" dirty="0"/>
          </a:p>
          <a:p>
            <a:r>
              <a:rPr lang="zh-CN" altLang="en-US" dirty="0"/>
              <a:t>output = </a:t>
            </a:r>
            <a:r>
              <a:rPr lang="en-US" altLang="zh-CN" dirty="0"/>
              <a:t>F</a:t>
            </a:r>
            <a:r>
              <a:rPr lang="zh-CN" altLang="en-US" dirty="0"/>
              <a:t>.</a:t>
            </a:r>
            <a:r>
              <a:rPr lang="en-US" altLang="zh-CN" dirty="0"/>
              <a:t>pow</a:t>
            </a:r>
            <a:r>
              <a:rPr lang="zh-CN" altLang="en-US" dirty="0"/>
              <a:t>(</a:t>
            </a:r>
            <a:r>
              <a:rPr lang="en-US" altLang="zh-CN" dirty="0"/>
              <a:t>x, y</a:t>
            </a:r>
            <a:r>
              <a:rPr lang="zh-CN" altLang="en-US" dirty="0"/>
              <a:t>)</a:t>
            </a:r>
          </a:p>
          <a:p>
            <a:endParaRPr lang="en-US" altLang="zh-CN" dirty="0"/>
          </a:p>
          <a:p>
            <a:r>
              <a:rPr lang="en-US" altLang="zh-CN" i="1" dirty="0">
                <a:solidFill>
                  <a:schemeClr val="bg2">
                    <a:lumMod val="50000"/>
                  </a:schemeClr>
                </a:solidFill>
              </a:rPr>
              <a:t># Cell</a:t>
            </a:r>
            <a:r>
              <a:rPr lang="zh-CN" altLang="en-US" i="1" dirty="0">
                <a:solidFill>
                  <a:schemeClr val="bg2">
                    <a:lumMod val="50000"/>
                  </a:schemeClr>
                </a:solidFill>
              </a:rPr>
              <a:t>类型的网络操作</a:t>
            </a:r>
            <a:endParaRPr lang="en-US" altLang="zh-CN" i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zh-CN" altLang="en-US" dirty="0"/>
              <a:t>x = Tensor(np.array([-1, </a:t>
            </a:r>
            <a:r>
              <a:rPr lang="en-US" altLang="zh-CN" dirty="0"/>
              <a:t>0</a:t>
            </a:r>
            <a:r>
              <a:rPr lang="zh-CN" altLang="en-US" dirty="0"/>
              <a:t>, 1]), </a:t>
            </a:r>
            <a:r>
              <a:rPr lang="en-US" altLang="zh-CN" dirty="0" err="1"/>
              <a:t>ms</a:t>
            </a:r>
            <a:r>
              <a:rPr lang="zh-CN" altLang="en-US" dirty="0"/>
              <a:t>.float</a:t>
            </a:r>
            <a:r>
              <a:rPr lang="en-US" altLang="zh-CN" dirty="0"/>
              <a:t>32</a:t>
            </a:r>
            <a:r>
              <a:rPr lang="zh-CN" altLang="en-US" dirty="0"/>
              <a:t>)</a:t>
            </a:r>
          </a:p>
          <a:p>
            <a:r>
              <a:rPr lang="zh-CN" altLang="en-US" dirty="0"/>
              <a:t>relu = nn.ReLU()</a:t>
            </a:r>
          </a:p>
          <a:p>
            <a:r>
              <a:rPr lang="zh-CN" altLang="en-US" dirty="0"/>
              <a:t>relu(x)</a:t>
            </a:r>
          </a:p>
        </p:txBody>
      </p:sp>
      <p:sp>
        <p:nvSpPr>
          <p:cNvPr id="9" name="矩形 8"/>
          <p:cNvSpPr/>
          <p:nvPr/>
        </p:nvSpPr>
        <p:spPr>
          <a:xfrm>
            <a:off x="729175" y="4774450"/>
            <a:ext cx="4470898" cy="1477328"/>
          </a:xfrm>
          <a:prstGeom prst="rect">
            <a:avLst/>
          </a:prstGeom>
          <a:solidFill>
            <a:srgbClr val="56C4D2"/>
          </a:solidFill>
        </p:spPr>
        <p:txBody>
          <a:bodyPr wrap="square">
            <a:spAutoFit/>
          </a:bodyPr>
          <a:lstStyle/>
          <a:p>
            <a:r>
              <a:rPr lang="en-US" altLang="zh-CN" dirty="0"/>
              <a:t>import  </a:t>
            </a:r>
            <a:r>
              <a:rPr lang="en-US" altLang="zh-CN" dirty="0" err="1"/>
              <a:t>mindspore</a:t>
            </a:r>
            <a:r>
              <a:rPr lang="en-US" altLang="zh-CN" dirty="0"/>
              <a:t> as </a:t>
            </a:r>
            <a:r>
              <a:rPr lang="en-US" altLang="zh-CN" dirty="0" err="1"/>
              <a:t>ms</a:t>
            </a:r>
            <a:endParaRPr lang="en-US" altLang="zh-CN" dirty="0"/>
          </a:p>
          <a:p>
            <a:r>
              <a:rPr lang="en-US" altLang="zh-CN" dirty="0"/>
              <a:t>from </a:t>
            </a:r>
            <a:r>
              <a:rPr lang="en-US" altLang="zh-CN" dirty="0" err="1"/>
              <a:t>mindspore</a:t>
            </a:r>
            <a:r>
              <a:rPr lang="en-US" altLang="zh-CN" dirty="0"/>
              <a:t> import </a:t>
            </a:r>
            <a:r>
              <a:rPr lang="en-US" altLang="zh-CN" dirty="0" err="1"/>
              <a:t>nn</a:t>
            </a:r>
            <a:r>
              <a:rPr lang="en-US" altLang="zh-CN" dirty="0"/>
              <a:t>, Tensor</a:t>
            </a:r>
          </a:p>
          <a:p>
            <a:r>
              <a:rPr lang="en-US" altLang="zh-CN" dirty="0"/>
              <a:t>from </a:t>
            </a:r>
            <a:r>
              <a:rPr lang="en-US" altLang="zh-CN" dirty="0" err="1"/>
              <a:t>mindspore.ops</a:t>
            </a:r>
            <a:r>
              <a:rPr lang="en-US" altLang="zh-CN" dirty="0"/>
              <a:t> import operations as P</a:t>
            </a:r>
          </a:p>
          <a:p>
            <a:r>
              <a:rPr lang="en-US" altLang="zh-CN" dirty="0"/>
              <a:t>from </a:t>
            </a:r>
            <a:r>
              <a:rPr lang="en-US" altLang="zh-CN" dirty="0" err="1"/>
              <a:t>mindspore.ops</a:t>
            </a:r>
            <a:r>
              <a:rPr lang="en-US" altLang="zh-CN" dirty="0"/>
              <a:t> import functional as F</a:t>
            </a:r>
          </a:p>
          <a:p>
            <a:r>
              <a:rPr lang="en-US" altLang="zh-CN" dirty="0"/>
              <a:t>from </a:t>
            </a:r>
            <a:r>
              <a:rPr lang="en-US" altLang="zh-CN" dirty="0" err="1"/>
              <a:t>mindspore.ops</a:t>
            </a:r>
            <a:r>
              <a:rPr lang="en-US" altLang="zh-CN" dirty="0"/>
              <a:t> import composite as C</a:t>
            </a:r>
          </a:p>
        </p:txBody>
      </p:sp>
    </p:spTree>
    <p:extLst>
      <p:ext uri="{BB962C8B-B14F-4D97-AF65-F5344CB8AC3E}">
        <p14:creationId xmlns:p14="http://schemas.microsoft.com/office/powerpoint/2010/main" val="2171524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编程</a:t>
            </a:r>
            <a:r>
              <a:rPr lang="zh-CN" altLang="en-US"/>
              <a:t>概念：</a:t>
            </a:r>
            <a:r>
              <a:rPr lang="en-US" altLang="zh-CN"/>
              <a:t>Cell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US" altLang="zh-CN" dirty="0"/>
              <a:t>Cell</a:t>
            </a:r>
            <a:r>
              <a:rPr lang="zh-CN" altLang="en-US" dirty="0"/>
              <a:t>是</a:t>
            </a:r>
            <a:r>
              <a:rPr lang="en-US" altLang="zh-CN" dirty="0" err="1"/>
              <a:t>MindSpore</a:t>
            </a:r>
            <a:r>
              <a:rPr lang="zh-CN" altLang="en-US" dirty="0"/>
              <a:t>核心编程结构，定义了执行计算的基本模块。</a:t>
            </a:r>
            <a:r>
              <a:rPr lang="en-US" altLang="zh-CN" dirty="0"/>
              <a:t>Cell</a:t>
            </a:r>
            <a:r>
              <a:rPr lang="zh-CN" altLang="en-US" dirty="0"/>
              <a:t>对象有以下成员方法：</a:t>
            </a:r>
          </a:p>
          <a:p>
            <a:pPr lvl="1"/>
            <a:r>
              <a:rPr lang="en-US" altLang="zh-CN" dirty="0"/>
              <a:t>__</a:t>
            </a:r>
            <a:r>
              <a:rPr lang="en-US" altLang="zh-CN" dirty="0" err="1"/>
              <a:t>init</a:t>
            </a:r>
            <a:r>
              <a:rPr lang="en-US" altLang="zh-CN" dirty="0"/>
              <a:t>__</a:t>
            </a:r>
            <a:r>
              <a:rPr lang="zh-CN" altLang="en-US" dirty="0"/>
              <a:t>，初始化参数（</a:t>
            </a:r>
            <a:r>
              <a:rPr lang="en-US" altLang="zh-CN" dirty="0"/>
              <a:t>Parameter</a:t>
            </a:r>
            <a:r>
              <a:rPr lang="zh-CN" altLang="en-US" dirty="0"/>
              <a:t>），子模块（</a:t>
            </a:r>
            <a:r>
              <a:rPr lang="en-US" altLang="zh-CN" dirty="0"/>
              <a:t>Cell</a:t>
            </a:r>
            <a:r>
              <a:rPr lang="zh-CN" altLang="en-US" dirty="0"/>
              <a:t>），算子（</a:t>
            </a:r>
            <a:r>
              <a:rPr lang="en-US" altLang="zh-CN" dirty="0"/>
              <a:t>Primitive</a:t>
            </a:r>
            <a:r>
              <a:rPr lang="zh-CN" altLang="en-US" dirty="0"/>
              <a:t>）等组件，进行初始化的校验；</a:t>
            </a:r>
          </a:p>
          <a:p>
            <a:pPr lvl="1"/>
            <a:r>
              <a:rPr lang="en-US" altLang="zh-CN" dirty="0"/>
              <a:t>construct</a:t>
            </a:r>
            <a:r>
              <a:rPr lang="zh-CN" altLang="en-US" dirty="0"/>
              <a:t>，定义执行的过程，有一些语法限制。图模式时，会被编译成图来执行；</a:t>
            </a:r>
          </a:p>
          <a:p>
            <a:pPr lvl="1"/>
            <a:r>
              <a:rPr lang="en-US" altLang="zh-CN" dirty="0" err="1"/>
              <a:t>bprop</a:t>
            </a:r>
            <a:r>
              <a:rPr lang="zh-CN" altLang="en-US" dirty="0"/>
              <a:t>（可选），自定义模块的反向。未定义时，框架会自动生成反向图，计算</a:t>
            </a:r>
            <a:r>
              <a:rPr lang="en-US" altLang="zh-CN" dirty="0"/>
              <a:t>construct</a:t>
            </a:r>
            <a:r>
              <a:rPr lang="zh-CN" altLang="en-US" dirty="0"/>
              <a:t>的反向。</a:t>
            </a:r>
          </a:p>
          <a:p>
            <a:r>
              <a:rPr lang="zh-CN" altLang="en-US" dirty="0"/>
              <a:t>预定义的</a:t>
            </a:r>
            <a:r>
              <a:rPr lang="en-US" altLang="zh-CN" dirty="0"/>
              <a:t>Cell</a:t>
            </a:r>
          </a:p>
          <a:p>
            <a:pPr lvl="1"/>
            <a:r>
              <a:rPr lang="en-US" altLang="zh-CN" dirty="0" err="1"/>
              <a:t>nn</a:t>
            </a:r>
            <a:r>
              <a:rPr lang="zh-CN" altLang="en-US" dirty="0"/>
              <a:t>算子：</a:t>
            </a:r>
            <a:r>
              <a:rPr lang="en-US" altLang="zh-CN" dirty="0" err="1"/>
              <a:t>ReLU</a:t>
            </a:r>
            <a:r>
              <a:rPr lang="en-US" altLang="zh-CN" dirty="0"/>
              <a:t>, Dense, Conv2d</a:t>
            </a:r>
          </a:p>
          <a:p>
            <a:pPr lvl="1"/>
            <a:r>
              <a:rPr lang="en-US" altLang="zh-CN" dirty="0"/>
              <a:t>Loss, Optimizer, Metrics</a:t>
            </a:r>
          </a:p>
          <a:p>
            <a:pPr lvl="1"/>
            <a:r>
              <a:rPr lang="en-US" altLang="zh-CN" dirty="0"/>
              <a:t>Wrapper</a:t>
            </a:r>
            <a:r>
              <a:rPr lang="zh-CN" altLang="en-US" dirty="0"/>
              <a:t>：</a:t>
            </a:r>
            <a:r>
              <a:rPr lang="en-US" altLang="zh-CN" dirty="0" err="1"/>
              <a:t>TrainOneStepCell</a:t>
            </a:r>
            <a:r>
              <a:rPr lang="en-US" altLang="zh-CN" dirty="0"/>
              <a:t>, </a:t>
            </a:r>
            <a:r>
              <a:rPr lang="en-US" altLang="zh-CN" dirty="0" err="1"/>
              <a:t>WithLossCell</a:t>
            </a:r>
            <a:r>
              <a:rPr lang="en-US" altLang="zh-CN" dirty="0"/>
              <a:t>, </a:t>
            </a:r>
            <a:r>
              <a:rPr lang="en-US" altLang="zh-CN" dirty="0" err="1"/>
              <a:t>WithGradCell</a:t>
            </a:r>
            <a:r>
              <a:rPr lang="en-US" altLang="zh-CN" dirty="0"/>
              <a:t>, </a:t>
            </a:r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51975" y="6356350"/>
            <a:ext cx="2744788" cy="365125"/>
          </a:xfrm>
          <a:prstGeom prst="rect">
            <a:avLst/>
          </a:prstGeom>
        </p:spPr>
        <p:txBody>
          <a:bodyPr/>
          <a:lstStyle/>
          <a:p>
            <a:fld id="{BADB7B23-4BC0-4FCE-904C-84E70E67ADA1}" type="slidenum">
              <a:rPr lang="zh-CN" altLang="en-US" smtClean="0">
                <a:solidFill>
                  <a:prstClr val="black"/>
                </a:solidFill>
              </a:rPr>
              <a:pPr/>
              <a:t>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729175" y="4203553"/>
            <a:ext cx="10740640" cy="2031325"/>
          </a:xfrm>
          <a:prstGeom prst="rect">
            <a:avLst/>
          </a:prstGeom>
          <a:solidFill>
            <a:srgbClr val="56C4D2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MyNet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(nn.Cell):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def </a:t>
            </a:r>
            <a:r>
              <a:rPr lang="zh-CN" altLang="zh-CN" sz="1400" dirty="0">
                <a:solidFill>
                  <a:srgbClr val="B200B2"/>
                </a:solidFill>
                <a:latin typeface="Consolas" panose="020B0609020204030204" pitchFamily="49" charset="0"/>
                <a:ea typeface="JetBrains Mono"/>
              </a:rPr>
              <a:t>__init__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400" dirty="0">
                <a:solidFill>
                  <a:srgbClr val="94558D"/>
                </a:solidFill>
                <a:latin typeface="Consolas" panose="020B0609020204030204" pitchFamily="49" charset="0"/>
                <a:ea typeface="JetBrains Mono"/>
              </a:rPr>
              <a:t>self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in_channel, out_channel):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400" dirty="0">
                <a:solidFill>
                  <a:srgbClr val="000080"/>
                </a:solidFill>
                <a:latin typeface="Consolas" panose="020B0609020204030204" pitchFamily="49" charset="0"/>
                <a:ea typeface="JetBrains Mono"/>
              </a:rPr>
              <a:t>super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(MyNet, </a:t>
            </a:r>
            <a:r>
              <a:rPr lang="zh-CN" altLang="zh-CN" sz="1400" dirty="0">
                <a:solidFill>
                  <a:srgbClr val="94558D"/>
                </a:solidFill>
                <a:latin typeface="Consolas" panose="020B0609020204030204" pitchFamily="49" charset="0"/>
                <a:ea typeface="JetBrains Mono"/>
              </a:rPr>
              <a:t>self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).</a:t>
            </a:r>
            <a:r>
              <a:rPr lang="zh-CN" altLang="zh-CN" sz="1400" dirty="0">
                <a:solidFill>
                  <a:srgbClr val="B200B2"/>
                </a:solidFill>
                <a:latin typeface="Consolas" panose="020B0609020204030204" pitchFamily="49" charset="0"/>
                <a:ea typeface="JetBrains Mono"/>
              </a:rPr>
              <a:t>__init__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400" dirty="0">
                <a:solidFill>
                  <a:srgbClr val="94558D"/>
                </a:solidFill>
                <a:latin typeface="Consolas" panose="020B0609020204030204" pitchFamily="49" charset="0"/>
                <a:ea typeface="JetBrains Mono"/>
              </a:rPr>
              <a:t>self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fc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= nn.Dense(in_channel, out_channel, </a:t>
            </a:r>
            <a:r>
              <a:rPr lang="zh-CN" altLang="zh-CN" sz="1400" dirty="0">
                <a:solidFill>
                  <a:srgbClr val="660099"/>
                </a:solidFill>
                <a:latin typeface="Consolas" panose="020B0609020204030204" pitchFamily="49" charset="0"/>
                <a:ea typeface="JetBrains Mono"/>
              </a:rPr>
              <a:t>weight_init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</a:t>
            </a:r>
            <a:r>
              <a:rPr lang="zh-CN" altLang="zh-CN" sz="1400" b="1" dirty="0">
                <a:solidFill>
                  <a:srgbClr val="008080"/>
                </a:solidFill>
                <a:latin typeface="Consolas" panose="020B0609020204030204" pitchFamily="49" charset="0"/>
                <a:ea typeface="JetBrains Mono"/>
              </a:rPr>
              <a:t>'normal'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 </a:t>
            </a:r>
            <a:r>
              <a:rPr lang="zh-CN" altLang="zh-CN" sz="1400" dirty="0">
                <a:solidFill>
                  <a:srgbClr val="660099"/>
                </a:solidFill>
                <a:latin typeface="Consolas" panose="020B0609020204030204" pitchFamily="49" charset="0"/>
                <a:ea typeface="JetBrains Mono"/>
              </a:rPr>
              <a:t>bias_init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</a:t>
            </a:r>
            <a:r>
              <a:rPr lang="zh-CN" altLang="zh-CN" sz="1400" b="1" dirty="0">
                <a:solidFill>
                  <a:srgbClr val="008080"/>
                </a:solidFill>
                <a:latin typeface="Consolas" panose="020B0609020204030204" pitchFamily="49" charset="0"/>
                <a:ea typeface="JetBrains Mono"/>
              </a:rPr>
              <a:t>'zero'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400" dirty="0">
                <a:solidFill>
                  <a:srgbClr val="660099"/>
                </a:solidFill>
                <a:latin typeface="Consolas" panose="020B0609020204030204" pitchFamily="49" charset="0"/>
                <a:ea typeface="JetBrains Mono"/>
              </a:rPr>
              <a:t>has_bias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True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400" dirty="0">
                <a:solidFill>
                  <a:srgbClr val="94558D"/>
                </a:solidFill>
                <a:latin typeface="Consolas" panose="020B0609020204030204" pitchFamily="49" charset="0"/>
                <a:ea typeface="JetBrains Mono"/>
              </a:rPr>
              <a:t>self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.relu = nn.ReLU()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def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construct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400" dirty="0">
                <a:solidFill>
                  <a:srgbClr val="94558D"/>
                </a:solidFill>
                <a:latin typeface="Consolas" panose="020B0609020204030204" pitchFamily="49" charset="0"/>
                <a:ea typeface="JetBrains Mono"/>
              </a:rPr>
              <a:t>self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x):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x = </a:t>
            </a:r>
            <a:r>
              <a:rPr lang="zh-CN" altLang="zh-CN" sz="1400" dirty="0">
                <a:solidFill>
                  <a:srgbClr val="94558D"/>
                </a:solidFill>
                <a:latin typeface="Consolas" panose="020B0609020204030204" pitchFamily="49" charset="0"/>
                <a:ea typeface="JetBrains Mono"/>
              </a:rPr>
              <a:t>self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fc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(x)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x = </a:t>
            </a:r>
            <a:r>
              <a:rPr lang="zh-CN" altLang="zh-CN" sz="1400" dirty="0">
                <a:solidFill>
                  <a:srgbClr val="94558D"/>
                </a:solidFill>
                <a:latin typeface="Consolas" panose="020B0609020204030204" pitchFamily="49" charset="0"/>
                <a:ea typeface="JetBrains Mono"/>
              </a:rPr>
              <a:t>self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.relu(x)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return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x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262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常用模块</a:t>
            </a:r>
          </a:p>
        </p:txBody>
      </p:sp>
      <p:graphicFrame>
        <p:nvGraphicFramePr>
          <p:cNvPr id="66" name="表格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420674"/>
              </p:ext>
            </p:extLst>
          </p:nvPr>
        </p:nvGraphicFramePr>
        <p:xfrm>
          <a:off x="733920" y="1449534"/>
          <a:ext cx="10735895" cy="4296925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193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2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92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模块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6114" marR="116114" marT="58057" marB="5805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116114" marR="116114" marT="58057" marB="5805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465"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mindspore.dataset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114" marR="116114" marT="58057" marB="58057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常见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Dataset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加载和处理接口，如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MNIST, CIFAR-10, VOC, COCO, </a:t>
                      </a:r>
                      <a:r>
                        <a:rPr lang="en-US" altLang="zh-CN"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ImageFolder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en-US" altLang="zh-CN"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CelebA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等；</a:t>
                      </a: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transforms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提供基于</a:t>
                      </a:r>
                      <a:r>
                        <a:rPr lang="en-US" altLang="zh-CN"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OpenCV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PIL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及原生实现的数据处理、数据增强接口；</a:t>
                      </a: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text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提供文本处理接口；</a:t>
                      </a:r>
                    </a:p>
                  </a:txBody>
                  <a:tcPr marL="116114" marR="116114" marT="58057" marB="5805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174"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mindspore.common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114" marR="116114" marT="58057" marB="58057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Tensor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（张量），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Parameter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（权重、偏置等参数），</a:t>
                      </a:r>
                      <a:r>
                        <a:rPr lang="en-US" altLang="zh-CN"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dtype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（数据类型）及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Initializer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Parameter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初始化）等接口</a:t>
                      </a:r>
                    </a:p>
                  </a:txBody>
                  <a:tcPr marL="116114" marR="116114" marT="58057" marB="5805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786"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mindspore.context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114" marR="116114" marT="58057" marB="58057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设置上下文，如设置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Graph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</a:t>
                      </a:r>
                      <a:r>
                        <a:rPr lang="en-US" altLang="zh-CN"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PyNative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模式、设备类型、中间图或数据保存、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Profiling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、设备内存、自动并行等</a:t>
                      </a:r>
                    </a:p>
                  </a:txBody>
                  <a:tcPr marL="116114" marR="116114" marT="58057" marB="5805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7563"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mindspore.nn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114" marR="116114" marT="58057" marB="58057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Neural Network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常用算子，如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Layer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（层）、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Loss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（损失函数）、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Optimizer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（优化器）、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Metrics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（评价指标）以及基类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Cell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Wrapper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114" marR="116114" marT="58057" marB="5805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227"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mindspore.ops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114" marR="116114" marT="58057" marB="58057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原语算子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operations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（需初始化），组合算子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composite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，功能算子（已初始化的原语算子）</a:t>
                      </a:r>
                    </a:p>
                  </a:txBody>
                  <a:tcPr marL="116114" marR="116114" marT="58057" marB="5805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786"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mindspore.train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114" marR="116114" marT="58057" marB="58057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Model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（训练、验证、推理接口）、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callback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（损失监控、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Checkpoint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保存、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Summary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记录等），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serialization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（加载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Checkpoint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、导出模型等），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quant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（量化）</a:t>
                      </a:r>
                    </a:p>
                  </a:txBody>
                  <a:tcPr marL="116114" marR="116114" marT="58057" marB="5805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729175" y="5835344"/>
            <a:ext cx="109953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Tips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mindspore.common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下的很多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被导出到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mindspore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下了，如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mindspore.Tensor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mindspore.Parameter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mindspore.dtype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文档：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https://www.mindspore.cn/doc/api_python/zh-CN/master/index.html</a:t>
            </a:r>
          </a:p>
        </p:txBody>
      </p:sp>
    </p:spTree>
    <p:extLst>
      <p:ext uri="{BB962C8B-B14F-4D97-AF65-F5344CB8AC3E}">
        <p14:creationId xmlns:p14="http://schemas.microsoft.com/office/powerpoint/2010/main" val="1674142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8000"/>
    </mc:Choice>
    <mc:Fallback xmlns="">
      <p:transition advClick="0" advTm="8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10D792-4102-9E49-9911-6FCBEA89B2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33620" y="1843088"/>
            <a:ext cx="10122060" cy="4170534"/>
          </a:xfrm>
        </p:spPr>
        <p:txBody>
          <a:bodyPr/>
          <a:lstStyle/>
          <a:p>
            <a:r>
              <a:rPr lang="zh-CN" altLang="en-US" dirty="0"/>
              <a:t>编程概念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案例介绍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数据处理</a:t>
            </a:r>
            <a:endParaRPr lang="en-US" altLang="zh-CN" dirty="0"/>
          </a:p>
          <a:p>
            <a:r>
              <a:rPr lang="zh-CN" altLang="en-US" dirty="0"/>
              <a:t>模型定义</a:t>
            </a:r>
            <a:endParaRPr lang="en-US" altLang="zh-CN" dirty="0"/>
          </a:p>
          <a:p>
            <a:r>
              <a:rPr lang="zh-CN" altLang="en-US" dirty="0"/>
              <a:t>模型训练</a:t>
            </a:r>
            <a:endParaRPr lang="en-US" altLang="zh-CN" dirty="0"/>
          </a:p>
          <a:p>
            <a:r>
              <a:rPr lang="zh-CN" altLang="en-US" dirty="0"/>
              <a:t>模型推理</a:t>
            </a:r>
            <a:endParaRPr lang="en-US" altLang="zh-CN" dirty="0"/>
          </a:p>
          <a:p>
            <a:r>
              <a:rPr lang="zh-CN" altLang="en-US" dirty="0"/>
              <a:t>网络迁移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222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/>
              <a:t>LeNet-5</a:t>
            </a:r>
            <a:r>
              <a:rPr lang="zh-CN" altLang="en-US" dirty="0"/>
              <a:t>的手写数字识别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2"/>
          </p:nvPr>
        </p:nvSpPr>
        <p:spPr>
          <a:xfrm>
            <a:off x="726021" y="1512876"/>
            <a:ext cx="10743794" cy="4197144"/>
          </a:xfrm>
        </p:spPr>
        <p:txBody>
          <a:bodyPr/>
          <a:lstStyle/>
          <a:p>
            <a:r>
              <a:rPr lang="en-US" altLang="zh-CN" dirty="0"/>
              <a:t>MNIST</a:t>
            </a:r>
            <a:r>
              <a:rPr lang="zh-CN" altLang="en-US" dirty="0"/>
              <a:t>是一个手写数字数据集，训练集包含</a:t>
            </a:r>
            <a:r>
              <a:rPr lang="en-US" altLang="zh-CN" dirty="0"/>
              <a:t>60000</a:t>
            </a:r>
            <a:r>
              <a:rPr lang="zh-CN" altLang="en-US" dirty="0"/>
              <a:t>张手写数字，测试集包含</a:t>
            </a:r>
            <a:r>
              <a:rPr lang="en-US" altLang="zh-CN" dirty="0"/>
              <a:t>10000</a:t>
            </a:r>
            <a:r>
              <a:rPr lang="zh-CN" altLang="en-US" dirty="0"/>
              <a:t>张手写数字，共</a:t>
            </a:r>
            <a:r>
              <a:rPr lang="en-US" altLang="zh-CN" dirty="0"/>
              <a:t>10</a:t>
            </a:r>
            <a:r>
              <a:rPr lang="zh-CN" altLang="en-US" dirty="0"/>
              <a:t>类。</a:t>
            </a:r>
          </a:p>
          <a:p>
            <a:r>
              <a:rPr lang="zh-CN" altLang="en-US" dirty="0"/>
              <a:t>卷积神经网络（</a:t>
            </a:r>
            <a:r>
              <a:rPr lang="en-US" altLang="zh-CN" dirty="0"/>
              <a:t>Convolutional Neural Networks, CNN</a:t>
            </a:r>
            <a:r>
              <a:rPr lang="zh-CN" altLang="en-US" dirty="0"/>
              <a:t>）的研究始于二十世纪</a:t>
            </a:r>
            <a:r>
              <a:rPr lang="en-US" altLang="zh-CN" dirty="0"/>
              <a:t>80</a:t>
            </a:r>
            <a:r>
              <a:rPr lang="zh-CN" altLang="en-US" dirty="0"/>
              <a:t>至</a:t>
            </a:r>
            <a:r>
              <a:rPr lang="en-US" altLang="zh-CN" dirty="0"/>
              <a:t>90</a:t>
            </a:r>
            <a:r>
              <a:rPr lang="zh-CN" altLang="en-US" dirty="0"/>
              <a:t>年代，</a:t>
            </a:r>
            <a:r>
              <a:rPr lang="en-US" altLang="zh-CN" dirty="0" err="1"/>
              <a:t>LeNet</a:t>
            </a:r>
            <a:r>
              <a:rPr lang="zh-CN" altLang="en-US" dirty="0"/>
              <a:t>是最早出现的卷积神经网络之一。</a:t>
            </a:r>
          </a:p>
          <a:p>
            <a:r>
              <a:rPr lang="zh-CN" altLang="en-US" dirty="0"/>
              <a:t>在</a:t>
            </a:r>
            <a:r>
              <a:rPr lang="en-US" altLang="zh-CN" dirty="0" err="1"/>
              <a:t>LeNet</a:t>
            </a:r>
            <a:r>
              <a:rPr lang="zh-CN" altLang="en-US" dirty="0"/>
              <a:t>的基础上，</a:t>
            </a:r>
            <a:r>
              <a:rPr lang="en-US" altLang="zh-CN" dirty="0"/>
              <a:t>1998</a:t>
            </a:r>
            <a:r>
              <a:rPr lang="zh-CN" altLang="en-US" dirty="0"/>
              <a:t>年</a:t>
            </a:r>
            <a:r>
              <a:rPr lang="en-US" altLang="zh-CN" dirty="0" err="1"/>
              <a:t>Yann</a:t>
            </a:r>
            <a:r>
              <a:rPr lang="en-US" altLang="zh-CN" dirty="0"/>
              <a:t> </a:t>
            </a:r>
            <a:r>
              <a:rPr lang="en-US" altLang="zh-CN" dirty="0" err="1"/>
              <a:t>LeCun</a:t>
            </a:r>
            <a:r>
              <a:rPr lang="zh-CN" altLang="en-US" dirty="0"/>
              <a:t>等构建了卷积神经网络</a:t>
            </a:r>
            <a:r>
              <a:rPr lang="en-US" altLang="zh-CN" dirty="0"/>
              <a:t>LeNet-5</a:t>
            </a:r>
            <a:r>
              <a:rPr lang="zh-CN" altLang="en-US" dirty="0"/>
              <a:t>并在手写数字的识别问题中取得成功 。</a:t>
            </a:r>
            <a:r>
              <a:rPr lang="en-US" altLang="zh-CN" dirty="0"/>
              <a:t>LeNet-5</a:t>
            </a:r>
            <a:r>
              <a:rPr lang="zh-CN" altLang="en-US" dirty="0"/>
              <a:t>及其后产生的变体定义了现代卷积神经网络的基本结构，可谓入门级神经网络模型。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51975" y="6356350"/>
            <a:ext cx="2744788" cy="365125"/>
          </a:xfrm>
          <a:prstGeom prst="rect">
            <a:avLst/>
          </a:prstGeom>
        </p:spPr>
        <p:txBody>
          <a:bodyPr/>
          <a:lstStyle/>
          <a:p>
            <a:fld id="{BADB7B23-4BC0-4FCE-904C-84E70E67ADA1}" type="slidenum">
              <a:rPr lang="zh-CN" altLang="en-US" smtClean="0">
                <a:solidFill>
                  <a:prstClr val="black"/>
                </a:solidFill>
              </a:rPr>
              <a:pPr/>
              <a:t>8</a:t>
            </a:fld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1026" name="Picture 2" descr="https://www.mindspore.cn/tutorial/zh-CN/master/_images/LeNet_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6478" y="3372374"/>
            <a:ext cx="8053337" cy="2117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gitee.com/mindspore/course/raw/master/lenet5/images/mnis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175" y="3357115"/>
            <a:ext cx="2677066" cy="2133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729175" y="5710019"/>
            <a:ext cx="107406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MNIST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官网：http://yann.lecun.com/exdb/mnist/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LeNet-5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论文：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http://yann.lecun.com/exdb/publis/pdf/lecun-01a.pdf</a:t>
            </a:r>
          </a:p>
        </p:txBody>
      </p:sp>
    </p:spTree>
    <p:extLst>
      <p:ext uri="{BB962C8B-B14F-4D97-AF65-F5344CB8AC3E}">
        <p14:creationId xmlns:p14="http://schemas.microsoft.com/office/powerpoint/2010/main" val="2004811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 bwMode="auto">
          <a:xfrm>
            <a:off x="4850903" y="1449534"/>
            <a:ext cx="6618912" cy="4779597"/>
          </a:xfrm>
          <a:prstGeom prst="rect">
            <a:avLst/>
          </a:prstGeom>
          <a:solidFill>
            <a:srgbClr val="00B0F0">
              <a:alpha val="13000"/>
            </a:srgbClr>
          </a:solidFill>
          <a:ln w="25400">
            <a:noFill/>
            <a:prstDash val="dash"/>
          </a:ln>
          <a:effectLst/>
          <a:extLst/>
        </p:spPr>
        <p:txBody>
          <a:bodyPr rot="0" spcFirstLastPara="0" vertOverflow="overflow" horzOverflow="overflow" vert="horz" wrap="square" lIns="91440" tIns="45721" rIns="91440" bIns="4572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</a:pPr>
            <a:endParaRPr lang="zh-CN" altLang="en-US" sz="14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案例介绍</a:t>
            </a:r>
          </a:p>
          <a:p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2"/>
          </p:nvPr>
        </p:nvSpPr>
        <p:spPr>
          <a:xfrm>
            <a:off x="726021" y="1512875"/>
            <a:ext cx="4100405" cy="4690459"/>
          </a:xfrm>
        </p:spPr>
        <p:txBody>
          <a:bodyPr/>
          <a:lstStyle/>
          <a:p>
            <a:r>
              <a:rPr lang="zh-CN" altLang="en-US" dirty="0"/>
              <a:t>数据处理</a:t>
            </a:r>
            <a:endParaRPr lang="en-US" altLang="zh-CN" dirty="0"/>
          </a:p>
          <a:p>
            <a:pPr lvl="1"/>
            <a:r>
              <a:rPr lang="zh-CN" altLang="en-US" dirty="0"/>
              <a:t>数据加载</a:t>
            </a:r>
            <a:endParaRPr lang="en-US" altLang="zh-CN" dirty="0"/>
          </a:p>
          <a:p>
            <a:pPr lvl="1"/>
            <a:r>
              <a:rPr lang="zh-CN" altLang="en-US" dirty="0"/>
              <a:t>数据增强</a:t>
            </a:r>
          </a:p>
          <a:p>
            <a:r>
              <a:rPr lang="zh-CN" altLang="en-US" dirty="0"/>
              <a:t>模型定义</a:t>
            </a:r>
            <a:endParaRPr lang="en-US" altLang="zh-CN" dirty="0"/>
          </a:p>
          <a:p>
            <a:pPr lvl="1"/>
            <a:r>
              <a:rPr lang="zh-CN" altLang="en-US" dirty="0"/>
              <a:t>定义网络</a:t>
            </a:r>
            <a:endParaRPr lang="en-US" altLang="zh-CN" dirty="0"/>
          </a:p>
          <a:p>
            <a:pPr lvl="1"/>
            <a:r>
              <a:rPr lang="zh-CN" altLang="en-US" dirty="0"/>
              <a:t>损失函数</a:t>
            </a:r>
            <a:endParaRPr lang="en-US" altLang="zh-CN" dirty="0"/>
          </a:p>
          <a:p>
            <a:pPr lvl="1"/>
            <a:r>
              <a:rPr lang="zh-CN" altLang="en-US" dirty="0"/>
              <a:t>优化器</a:t>
            </a:r>
          </a:p>
          <a:p>
            <a:r>
              <a:rPr lang="zh-CN" altLang="en-US" dirty="0"/>
              <a:t>模型训练</a:t>
            </a:r>
            <a:endParaRPr lang="en-US" altLang="zh-CN" dirty="0"/>
          </a:p>
          <a:p>
            <a:pPr lvl="1"/>
            <a:r>
              <a:rPr lang="en-US" altLang="zh-CN" dirty="0"/>
              <a:t>Loss</a:t>
            </a:r>
            <a:r>
              <a:rPr lang="zh-CN" altLang="en-US" dirty="0"/>
              <a:t>监控</a:t>
            </a:r>
            <a:endParaRPr lang="en-US" altLang="zh-CN" dirty="0"/>
          </a:p>
          <a:p>
            <a:pPr lvl="1"/>
            <a:r>
              <a:rPr lang="zh-CN" altLang="en-US" dirty="0"/>
              <a:t>验证</a:t>
            </a:r>
            <a:endParaRPr lang="en-US" altLang="zh-CN" dirty="0"/>
          </a:p>
          <a:p>
            <a:pPr lvl="1"/>
            <a:r>
              <a:rPr lang="zh-CN" altLang="en-US" dirty="0"/>
              <a:t>保存</a:t>
            </a:r>
            <a:r>
              <a:rPr lang="en-US" altLang="zh-CN" dirty="0"/>
              <a:t>Checkpoint</a:t>
            </a:r>
            <a:endParaRPr lang="zh-CN" altLang="en-US" dirty="0"/>
          </a:p>
          <a:p>
            <a:r>
              <a:rPr lang="zh-CN" altLang="en-US" dirty="0"/>
              <a:t>模型推理</a:t>
            </a:r>
            <a:endParaRPr lang="en-US" altLang="zh-CN" dirty="0"/>
          </a:p>
          <a:p>
            <a:pPr lvl="1"/>
            <a:r>
              <a:rPr lang="zh-CN" altLang="en-US" dirty="0"/>
              <a:t>推理</a:t>
            </a:r>
            <a:endParaRPr lang="en-US" altLang="zh-CN" dirty="0"/>
          </a:p>
          <a:p>
            <a:pPr lvl="1"/>
            <a:r>
              <a:rPr lang="zh-CN" altLang="en-US" dirty="0"/>
              <a:t>部署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51975" y="6356350"/>
            <a:ext cx="2744788" cy="365125"/>
          </a:xfrm>
          <a:prstGeom prst="rect">
            <a:avLst/>
          </a:prstGeom>
        </p:spPr>
        <p:txBody>
          <a:bodyPr/>
          <a:lstStyle/>
          <a:p>
            <a:fld id="{BADB7B23-4BC0-4FCE-904C-84E70E67ADA1}" type="slidenum">
              <a:rPr lang="zh-CN" altLang="en-US" smtClean="0">
                <a:solidFill>
                  <a:prstClr val="black"/>
                </a:solidFill>
              </a:rPr>
              <a:pPr/>
              <a:t>9</a:t>
            </a:fld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1996" y="1809587"/>
            <a:ext cx="1969676" cy="1385726"/>
          </a:xfrm>
          <a:prstGeom prst="rect">
            <a:avLst/>
          </a:prstGeom>
        </p:spPr>
      </p:pic>
      <p:sp>
        <p:nvSpPr>
          <p:cNvPr id="15" name="圆角矩形 14"/>
          <p:cNvSpPr/>
          <p:nvPr/>
        </p:nvSpPr>
        <p:spPr bwMode="auto">
          <a:xfrm>
            <a:off x="7353469" y="3536282"/>
            <a:ext cx="1133754" cy="360940"/>
          </a:xfrm>
          <a:prstGeom prst="roundRect">
            <a:avLst/>
          </a:prstGeom>
          <a:solidFill>
            <a:srgbClr val="00B0F0">
              <a:alpha val="36000"/>
            </a:srgbClr>
          </a:solidFill>
          <a:ln>
            <a:solidFill>
              <a:srgbClr val="00B0F0"/>
            </a:solidFill>
          </a:ln>
          <a:effectLst/>
          <a:extLst/>
        </p:spPr>
        <p:txBody>
          <a:bodyPr rot="0" spcFirstLastPara="0" vertOverflow="overflow" horzOverflow="overflow" vert="horz" wrap="square" lIns="91440" tIns="45721" rIns="91440" bIns="4572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rgbClr val="CC9900"/>
              </a:buClr>
            </a:pP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Model</a:t>
            </a:r>
            <a:endParaRPr lang="zh-CN" altLang="en-US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642" y="4381192"/>
            <a:ext cx="1303010" cy="812314"/>
          </a:xfrm>
          <a:prstGeom prst="rect">
            <a:avLst/>
          </a:prstGeom>
        </p:spPr>
      </p:pic>
      <p:sp>
        <p:nvSpPr>
          <p:cNvPr id="19" name="圆角矩形 18"/>
          <p:cNvSpPr/>
          <p:nvPr/>
        </p:nvSpPr>
        <p:spPr bwMode="auto">
          <a:xfrm>
            <a:off x="7352270" y="5633832"/>
            <a:ext cx="1133754" cy="361776"/>
          </a:xfrm>
          <a:prstGeom prst="roundRect">
            <a:avLst/>
          </a:prstGeom>
          <a:solidFill>
            <a:srgbClr val="00B0F0">
              <a:alpha val="36000"/>
            </a:srgbClr>
          </a:solidFill>
          <a:ln>
            <a:solidFill>
              <a:srgbClr val="00B0F0"/>
            </a:solidFill>
          </a:ln>
          <a:effectLst/>
          <a:extLst/>
        </p:spPr>
        <p:txBody>
          <a:bodyPr rot="0" spcFirstLastPara="0" vertOverflow="overflow" horzOverflow="overflow" vert="horz" wrap="square" lIns="91440" tIns="45721" rIns="91440" bIns="4572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rgbClr val="CC9900"/>
              </a:buClr>
            </a:pP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Model</a:t>
            </a:r>
            <a:endParaRPr lang="zh-CN" altLang="en-US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圆角矩形 20"/>
          <p:cNvSpPr/>
          <p:nvPr/>
        </p:nvSpPr>
        <p:spPr bwMode="auto">
          <a:xfrm>
            <a:off x="5295519" y="5633832"/>
            <a:ext cx="1102278" cy="361776"/>
          </a:xfrm>
          <a:prstGeom prst="roundRect">
            <a:avLst/>
          </a:prstGeom>
          <a:solidFill>
            <a:srgbClr val="00B0F0">
              <a:alpha val="22000"/>
            </a:srgbClr>
          </a:solidFill>
          <a:ln>
            <a:solidFill>
              <a:srgbClr val="00B0F0"/>
            </a:solidFill>
          </a:ln>
          <a:effectLst/>
          <a:extLst/>
        </p:spPr>
        <p:txBody>
          <a:bodyPr rot="0" spcFirstLastPara="0" vertOverflow="overflow" horzOverflow="overflow" vert="horz" wrap="square" lIns="91440" tIns="45721" rIns="91440" bIns="4572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CC9900"/>
              </a:buClr>
            </a:pP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Checkpoint</a:t>
            </a:r>
            <a:endParaRPr lang="zh-CN" altLang="en-US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269775" y="1503079"/>
            <a:ext cx="800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Dataset</a:t>
            </a:r>
            <a:endParaRPr lang="zh-CN" altLang="en-US" sz="14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799624" y="1512875"/>
            <a:ext cx="940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Network</a:t>
            </a:r>
            <a:endParaRPr lang="zh-CN" altLang="en-US" sz="14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8" name="直接箭头连接符 27"/>
          <p:cNvCxnSpPr>
            <a:stCxn id="42" idx="2"/>
            <a:endCxn id="15" idx="0"/>
          </p:cNvCxnSpPr>
          <p:nvPr/>
        </p:nvCxnSpPr>
        <p:spPr bwMode="auto">
          <a:xfrm>
            <a:off x="6735439" y="3214990"/>
            <a:ext cx="1184907" cy="321292"/>
          </a:xfrm>
          <a:prstGeom prst="straightConnector1">
            <a:avLst/>
          </a:prstGeom>
          <a:ln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3" idx="2"/>
            <a:endCxn id="15" idx="0"/>
          </p:cNvCxnSpPr>
          <p:nvPr/>
        </p:nvCxnSpPr>
        <p:spPr bwMode="auto">
          <a:xfrm flipH="1">
            <a:off x="7920346" y="3195313"/>
            <a:ext cx="1276488" cy="340969"/>
          </a:xfrm>
          <a:prstGeom prst="straightConnector1">
            <a:avLst/>
          </a:prstGeom>
          <a:ln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 rot="20706797">
            <a:off x="8598491" y="3284269"/>
            <a:ext cx="5795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Cell</a:t>
            </a:r>
            <a:endParaRPr lang="zh-CN" altLang="en-US" sz="14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1" name="直接箭头连接符 30"/>
          <p:cNvCxnSpPr>
            <a:stCxn id="15" idx="2"/>
            <a:endCxn id="17" idx="0"/>
          </p:cNvCxnSpPr>
          <p:nvPr/>
        </p:nvCxnSpPr>
        <p:spPr bwMode="auto">
          <a:xfrm flipH="1">
            <a:off x="7919147" y="3897222"/>
            <a:ext cx="1199" cy="483970"/>
          </a:xfrm>
          <a:prstGeom prst="straightConnector1">
            <a:avLst/>
          </a:prstGeom>
          <a:ln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19" idx="0"/>
            <a:endCxn id="17" idx="2"/>
          </p:cNvCxnSpPr>
          <p:nvPr/>
        </p:nvCxnSpPr>
        <p:spPr bwMode="auto">
          <a:xfrm flipV="1">
            <a:off x="7919147" y="5193506"/>
            <a:ext cx="0" cy="440326"/>
          </a:xfrm>
          <a:prstGeom prst="straightConnector1">
            <a:avLst/>
          </a:prstGeom>
          <a:ln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7333880" y="3984712"/>
            <a:ext cx="536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train</a:t>
            </a:r>
            <a:endParaRPr lang="zh-CN" altLang="en-US" sz="14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849374" y="5278622"/>
            <a:ext cx="1101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predict/</a:t>
            </a:r>
            <a:r>
              <a:rPr lang="en-US" altLang="zh-CN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eval</a:t>
            </a:r>
            <a:endParaRPr lang="zh-CN" altLang="en-US" sz="14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" name="肘形连接符 34"/>
          <p:cNvCxnSpPr>
            <a:stCxn id="15" idx="1"/>
            <a:endCxn id="21" idx="0"/>
          </p:cNvCxnSpPr>
          <p:nvPr/>
        </p:nvCxnSpPr>
        <p:spPr bwMode="auto">
          <a:xfrm rot="10800000" flipV="1">
            <a:off x="5846659" y="3716752"/>
            <a:ext cx="1506811" cy="1917080"/>
          </a:xfrm>
          <a:prstGeom prst="bentConnector2">
            <a:avLst/>
          </a:prstGeom>
          <a:ln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21" idx="3"/>
            <a:endCxn id="19" idx="1"/>
          </p:cNvCxnSpPr>
          <p:nvPr/>
        </p:nvCxnSpPr>
        <p:spPr bwMode="auto">
          <a:xfrm>
            <a:off x="6397797" y="5814720"/>
            <a:ext cx="954473" cy="0"/>
          </a:xfrm>
          <a:prstGeom prst="straightConnector1">
            <a:avLst/>
          </a:prstGeom>
          <a:ln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6397797" y="5832350"/>
            <a:ext cx="1049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load model</a:t>
            </a:r>
            <a:endParaRPr lang="zh-CN" altLang="en-US" sz="14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70" name="直接箭头连接符 69"/>
          <p:cNvCxnSpPr>
            <a:stCxn id="19" idx="3"/>
            <a:endCxn id="1026" idx="1"/>
          </p:cNvCxnSpPr>
          <p:nvPr/>
        </p:nvCxnSpPr>
        <p:spPr bwMode="auto">
          <a:xfrm flipV="1">
            <a:off x="8486024" y="5514728"/>
            <a:ext cx="783928" cy="299992"/>
          </a:xfrm>
          <a:prstGeom prst="straightConnector1">
            <a:avLst/>
          </a:prstGeom>
          <a:ln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9" name="Picture 4" descr="https://gitee.com/mindspore/course/raw/master/lenet5/images/mnis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3813" y="1820652"/>
            <a:ext cx="1515289" cy="1207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s://gitee.com/mindspore/course/raw/master/checkpoint/images/prediction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9952" y="4826122"/>
            <a:ext cx="1810678" cy="1377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" descr="https://gitee.com/mindspore/course/raw/master/lenet5/images/mnis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7079" y="1904004"/>
            <a:ext cx="1515289" cy="1207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4" descr="https://gitee.com/mindspore/course/raw/master/lenet5/images/mnis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7794" y="2007569"/>
            <a:ext cx="1515289" cy="1207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2502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代码实例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29175" y="952834"/>
            <a:ext cx="5881350" cy="57246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import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os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import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mindspore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as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ms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import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mindspore.context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as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context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import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mindspore.dataset.transforms.c_transforms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as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C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import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mindspore.dataset.transforms.vision.c_transforms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as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CV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from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mindspore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import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nn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from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mindspore.train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import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Model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from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mindspore.train.callback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import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LossMonitor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context.set_context(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mode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=context.GRAPH_MODE,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device_target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'Ascend'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def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create_dataset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(data_dir, training=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True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batch_size=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32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resize=(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32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32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),</a:t>
            </a:r>
            <a:r>
              <a:rPr kumimoji="0" lang="en-US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rescale=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/(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255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*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0.3081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), shift=-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0.1307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/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0.3081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buffer_size=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64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):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data_train = os.path.join(data_dir, </a:t>
            </a: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'train'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data_test = os.path.join(data_dir, </a:t>
            </a: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'test'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ds = ms.dataset.MnistDataset(data_train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if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training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else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data_test)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ds = ds.map(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input_columns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=[</a:t>
            </a: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"image"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],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operations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=[CV.Resize(resize), CV.Rescale(rescale, shift), CV.HWC2CHW()])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ds = ds.map(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input_columns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=[</a:t>
            </a: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"label"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],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operations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=C.TypeCast(ms.int32))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ds = ds.shuffle(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buffer_size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=buffer_size).batch(batch_size,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drop_remainder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True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return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ds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class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LeNet5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(nn.Cell):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def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B200B2"/>
                </a:solidFill>
                <a:effectLst/>
                <a:latin typeface="Consolas" panose="020B0609020204030204" pitchFamily="49" charset="0"/>
                <a:ea typeface="JetBrains Mono"/>
              </a:rPr>
              <a:t>__init__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):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JetBrains Mono"/>
              </a:rPr>
              <a:t>super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(LeNet5,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).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B200B2"/>
                </a:solidFill>
                <a:effectLst/>
                <a:latin typeface="Consolas" panose="020B0609020204030204" pitchFamily="49" charset="0"/>
                <a:ea typeface="JetBrains Mono"/>
              </a:rPr>
              <a:t>__init__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.conv1 = nn.Conv2d(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6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5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stride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pad_mode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'valid'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.conv2 = nn.Conv2d(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6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16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5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stride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pad_mode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'valid'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.relu = nn.ReLU()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.pool = nn.MaxPool2d(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kernel_size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2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stride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2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.flatten = nn.Flatten()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.fc1 = nn.Dense(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400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120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.fc2 = nn.Dense(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120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84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.fc3 = nn.Dense(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84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10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def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construct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x):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x =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.relu(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.conv1(x))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x =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.pool(x)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x =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.relu(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.conv2(x))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x =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.pool(x)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x =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.flatten(x)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x =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.fc1(x)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x =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.fc2(x)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x =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.fc3(x)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return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x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def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train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(data_dir, lr=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0.01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momentum=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0.9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num_epochs=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3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):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ds_train = create_dataset(data_dir)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ds_eval = create_dataset(data_dir,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training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False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net = LeNet5()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loss = nn.loss.SoftmaxCrossEntropyWithLogits(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is_grad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False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sparse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True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reduction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'mean'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opt = nn.Momentum(net.trainable_params(), lr, momentum)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loss_cb = LossMonitor(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per_print_times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=ds_train.get_dataset_size())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model = Model(net, loss, opt,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metrics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={</a:t>
            </a: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'acc'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'loss'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model.train(num_epochs, ds_train,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callbacks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=[loss_cb],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dataset_sink_mode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False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metrics = model.eval(ds_eval,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dataset_sink_mode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False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JetBrains Mono"/>
              </a:rPr>
              <a:t>print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'Metrics:'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metrics)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29174" y="1011672"/>
            <a:ext cx="5881351" cy="934562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729175" y="2187868"/>
            <a:ext cx="5881350" cy="958004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729175" y="3190725"/>
            <a:ext cx="5881350" cy="2153062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729175" y="5383554"/>
            <a:ext cx="5881350" cy="1268757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729175" y="2008900"/>
            <a:ext cx="5881350" cy="134115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610525" y="1326979"/>
            <a:ext cx="485929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导入标准库、第三方库和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MindSpore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模块。</a:t>
            </a:r>
            <a:endParaRPr lang="zh-CN" altLang="en-US" sz="1400" dirty="0"/>
          </a:p>
        </p:txBody>
      </p:sp>
      <p:sp>
        <p:nvSpPr>
          <p:cNvPr id="13" name="矩形 12"/>
          <p:cNvSpPr/>
          <p:nvPr/>
        </p:nvSpPr>
        <p:spPr>
          <a:xfrm>
            <a:off x="6610525" y="1898021"/>
            <a:ext cx="485929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2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设置上下文：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GRAPH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模式、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Ascend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设备。</a:t>
            </a:r>
          </a:p>
        </p:txBody>
      </p:sp>
      <p:sp>
        <p:nvSpPr>
          <p:cNvPr id="14" name="矩形 13"/>
          <p:cNvSpPr/>
          <p:nvPr/>
        </p:nvSpPr>
        <p:spPr>
          <a:xfrm>
            <a:off x="6610525" y="2511053"/>
            <a:ext cx="485929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2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数据处理：数据集加载、缩放、归一化、格式转换、洗牌、批标准化。</a:t>
            </a:r>
          </a:p>
        </p:txBody>
      </p:sp>
      <p:sp>
        <p:nvSpPr>
          <p:cNvPr id="15" name="矩形 14"/>
          <p:cNvSpPr/>
          <p:nvPr/>
        </p:nvSpPr>
        <p:spPr>
          <a:xfrm>
            <a:off x="6610525" y="4113367"/>
            <a:ext cx="485929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2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模型定义：算子初始化（参数设置），网络构建。</a:t>
            </a:r>
          </a:p>
        </p:txBody>
      </p:sp>
      <p:sp>
        <p:nvSpPr>
          <p:cNvPr id="16" name="矩形 15"/>
          <p:cNvSpPr/>
          <p:nvPr/>
        </p:nvSpPr>
        <p:spPr>
          <a:xfrm>
            <a:off x="6610525" y="5864043"/>
            <a:ext cx="485929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2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模型训练和验证：实例化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net, loss, optimizer, 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loss_monitor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，调用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Model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接口进行训练和验证。</a:t>
            </a:r>
          </a:p>
        </p:txBody>
      </p:sp>
    </p:spTree>
    <p:extLst>
      <p:ext uri="{BB962C8B-B14F-4D97-AF65-F5344CB8AC3E}">
        <p14:creationId xmlns:p14="http://schemas.microsoft.com/office/powerpoint/2010/main" val="3317192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10D792-4102-9E49-9911-6FCBEA89B2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33620" y="1843088"/>
            <a:ext cx="10122060" cy="4170534"/>
          </a:xfrm>
        </p:spPr>
        <p:txBody>
          <a:bodyPr/>
          <a:lstStyle/>
          <a:p>
            <a:r>
              <a:rPr lang="zh-CN" altLang="en-US" dirty="0"/>
              <a:t>编程概念</a:t>
            </a:r>
            <a:endParaRPr lang="en-US" altLang="zh-CN" dirty="0"/>
          </a:p>
          <a:p>
            <a:r>
              <a:rPr lang="zh-CN" altLang="en-US" dirty="0"/>
              <a:t>案例介绍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数据处理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模型定义</a:t>
            </a:r>
            <a:endParaRPr lang="en-US" altLang="zh-CN" dirty="0"/>
          </a:p>
          <a:p>
            <a:r>
              <a:rPr lang="zh-CN" altLang="en-US" dirty="0"/>
              <a:t>模型训练</a:t>
            </a:r>
            <a:endParaRPr lang="en-US" altLang="zh-CN" dirty="0"/>
          </a:p>
          <a:p>
            <a:r>
              <a:rPr lang="zh-CN" altLang="en-US" dirty="0"/>
              <a:t>模型推理</a:t>
            </a:r>
            <a:endParaRPr lang="en-US" altLang="zh-CN" dirty="0"/>
          </a:p>
          <a:p>
            <a:r>
              <a:rPr lang="zh-CN" altLang="en-US" dirty="0"/>
              <a:t>网络迁移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821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数据处理</a:t>
            </a:r>
            <a:r>
              <a:rPr lang="en-US" altLang="zh-CN" dirty="0"/>
              <a:t>Pipeline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51975" y="6356350"/>
            <a:ext cx="2744788" cy="365125"/>
          </a:xfrm>
          <a:prstGeom prst="rect">
            <a:avLst/>
          </a:prstGeom>
        </p:spPr>
        <p:txBody>
          <a:bodyPr/>
          <a:lstStyle/>
          <a:p>
            <a:fld id="{BADB7B23-4BC0-4FCE-904C-84E70E67ADA1}" type="slidenum">
              <a:rPr lang="zh-CN" altLang="en-US" smtClean="0">
                <a:solidFill>
                  <a:prstClr val="black"/>
                </a:solidFill>
              </a:rPr>
              <a:pPr/>
              <a:t>12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729175" y="1484035"/>
            <a:ext cx="10740640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数据是深度学习的基础，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高质量的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数据输入会在整个深度神经网络中起到积极作用。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在训练开始之前，由于数据量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有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限，或者为了得到更好的结果，通常需要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进行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数据处理与数据增强，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以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获得能使网络受益的数据输入。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数据经过处理和增强，像流经管道的水一样源源不断的流向训练系统。</a:t>
            </a:r>
            <a:endParaRPr lang="zh-CN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65482" y="3436117"/>
            <a:ext cx="10068026" cy="933650"/>
            <a:chOff x="629636" y="3496632"/>
            <a:chExt cx="10068026" cy="933650"/>
          </a:xfrm>
        </p:grpSpPr>
        <p:sp>
          <p:nvSpPr>
            <p:cNvPr id="8" name="椭圆 7"/>
            <p:cNvSpPr/>
            <p:nvPr/>
          </p:nvSpPr>
          <p:spPr>
            <a:xfrm>
              <a:off x="629636" y="3496632"/>
              <a:ext cx="1559293" cy="933650"/>
            </a:xfrm>
            <a:prstGeom prst="ellipse">
              <a:avLst/>
            </a:prstGeom>
            <a:solidFill>
              <a:srgbClr val="F8B53C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</a:pPr>
              <a:r>
                <a:rPr lang="en-US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load</a:t>
              </a:r>
              <a:endPara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2756819" y="3496632"/>
              <a:ext cx="1559293" cy="933650"/>
            </a:xfrm>
            <a:prstGeom prst="ellipse">
              <a:avLst/>
            </a:prstGeom>
            <a:solidFill>
              <a:srgbClr val="F8B53C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</a:pPr>
              <a:r>
                <a:rPr lang="en-US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shuffle</a:t>
              </a:r>
              <a:endPara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4884002" y="3496632"/>
              <a:ext cx="1559293" cy="933650"/>
            </a:xfrm>
            <a:prstGeom prst="ellipse">
              <a:avLst/>
            </a:prstGeom>
            <a:solidFill>
              <a:srgbClr val="F8B53C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</a:pPr>
              <a:r>
                <a:rPr lang="en-US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map</a:t>
              </a:r>
              <a:endPara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6991935" y="3496632"/>
              <a:ext cx="1559293" cy="933650"/>
            </a:xfrm>
            <a:prstGeom prst="ellipse">
              <a:avLst/>
            </a:prstGeom>
            <a:solidFill>
              <a:srgbClr val="F8B53C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</a:pPr>
              <a:r>
                <a:rPr lang="en-US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batch</a:t>
              </a:r>
              <a:endPara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9138369" y="3496632"/>
              <a:ext cx="1559293" cy="933650"/>
            </a:xfrm>
            <a:prstGeom prst="ellipse">
              <a:avLst/>
            </a:prstGeom>
            <a:solidFill>
              <a:srgbClr val="F8B53C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</a:pPr>
              <a:r>
                <a:rPr lang="en-US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repeat</a:t>
              </a:r>
              <a:endPara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3" name="直接箭头连接符 12"/>
            <p:cNvCxnSpPr>
              <a:stCxn id="8" idx="6"/>
              <a:endCxn id="9" idx="2"/>
            </p:cNvCxnSpPr>
            <p:nvPr/>
          </p:nvCxnSpPr>
          <p:spPr>
            <a:xfrm>
              <a:off x="2188929" y="3963457"/>
              <a:ext cx="567890" cy="0"/>
            </a:xfrm>
            <a:prstGeom prst="straightConnector1">
              <a:avLst/>
            </a:prstGeom>
            <a:ln w="76200">
              <a:solidFill>
                <a:srgbClr val="F085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stCxn id="9" idx="6"/>
              <a:endCxn id="10" idx="2"/>
            </p:cNvCxnSpPr>
            <p:nvPr/>
          </p:nvCxnSpPr>
          <p:spPr>
            <a:xfrm>
              <a:off x="4316112" y="3963457"/>
              <a:ext cx="567890" cy="0"/>
            </a:xfrm>
            <a:prstGeom prst="straightConnector1">
              <a:avLst/>
            </a:prstGeom>
            <a:ln w="76200">
              <a:solidFill>
                <a:srgbClr val="F085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>
              <a:stCxn id="10" idx="6"/>
              <a:endCxn id="11" idx="2"/>
            </p:cNvCxnSpPr>
            <p:nvPr/>
          </p:nvCxnSpPr>
          <p:spPr>
            <a:xfrm>
              <a:off x="6443295" y="3963457"/>
              <a:ext cx="548640" cy="0"/>
            </a:xfrm>
            <a:prstGeom prst="straightConnector1">
              <a:avLst/>
            </a:prstGeom>
            <a:ln w="76200">
              <a:solidFill>
                <a:srgbClr val="F085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>
              <a:stCxn id="11" idx="6"/>
              <a:endCxn id="12" idx="2"/>
            </p:cNvCxnSpPr>
            <p:nvPr/>
          </p:nvCxnSpPr>
          <p:spPr>
            <a:xfrm>
              <a:off x="8551228" y="3963457"/>
              <a:ext cx="587141" cy="0"/>
            </a:xfrm>
            <a:prstGeom prst="straightConnector1">
              <a:avLst/>
            </a:prstGeom>
            <a:ln w="76200">
              <a:solidFill>
                <a:srgbClr val="F085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22469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加载数据集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615159"/>
              </p:ext>
            </p:extLst>
          </p:nvPr>
        </p:nvGraphicFramePr>
        <p:xfrm>
          <a:off x="729175" y="1450087"/>
          <a:ext cx="10740640" cy="4202698"/>
        </p:xfrm>
        <a:graphic>
          <a:graphicData uri="http://schemas.openxmlformats.org/drawingml/2006/table">
            <a:tbl>
              <a:tblPr firstRow="1" firstCol="1" bandRow="1">
                <a:tableStyleId>{912C8C85-51F0-491E-9774-3900AFEF0FD7}</a:tableStyleId>
              </a:tblPr>
              <a:tblGrid>
                <a:gridCol w="2408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2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0841">
                <a:tc>
                  <a:txBody>
                    <a:bodyPr/>
                    <a:lstStyle>
                      <a:lvl1pPr marL="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59384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1187679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78152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237536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96920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356304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415688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475072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Dataset structure</a:t>
                      </a:r>
                      <a:endParaRPr lang="zh-CN" sz="14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59384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1187679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78152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237536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96920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356304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415688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475072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dirty="0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使用简介</a:t>
                      </a:r>
                      <a:endParaRPr lang="zh-CN" sz="14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126">
                <a:tc>
                  <a:txBody>
                    <a:bodyPr/>
                    <a:lstStyle>
                      <a:lvl1pPr marL="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59384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1187679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78152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237536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96920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356304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415688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475072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127000" algn="l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200" dirty="0" err="1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ImageFolderDataset</a:t>
                      </a:r>
                      <a:r>
                        <a:rPr lang="en-US" sz="1400" kern="1200" dirty="0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b="1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59384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1187679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78152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237536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96920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356304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415688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475072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127000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i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# </a:t>
                      </a:r>
                      <a:r>
                        <a:rPr lang="zh-CN" altLang="en-US" sz="1400" i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读取图目录名作为类别标签，每个目录下的图片为同一类</a:t>
                      </a:r>
                      <a:endParaRPr lang="en-US" altLang="zh-CN" sz="1400" i="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127000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# 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Example: c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at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/image1.jpg, dog/image2.jpg</a:t>
                      </a:r>
                    </a:p>
                    <a:p>
                      <a:pPr marL="127000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ds = </a:t>
                      </a:r>
                      <a:r>
                        <a:rPr lang="en-US" altLang="zh-CN" sz="1400" dirty="0" err="1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ds.ImageFolderDataset</a:t>
                      </a:r>
                      <a:r>
                        <a:rPr lang="en-US" altLang="zh-CN" sz="1400" dirty="0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(DATA_DIR, </a:t>
                      </a:r>
                      <a:r>
                        <a:rPr lang="en-US" altLang="zh-CN" sz="1400" dirty="0" err="1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class_indexing</a:t>
                      </a:r>
                      <a:r>
                        <a:rPr lang="en-US" altLang="zh-CN" sz="1400" dirty="0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={"cat":0,"dog":1})</a:t>
                      </a:r>
                      <a:endParaRPr lang="zh-CN" sz="1400" dirty="0">
                        <a:effectLst/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264">
                <a:tc>
                  <a:txBody>
                    <a:bodyPr/>
                    <a:lstStyle>
                      <a:lvl1pPr marL="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59384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1187679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78152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237536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96920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356304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415688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475072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127000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MnistDataset</a:t>
                      </a:r>
                      <a:endParaRPr lang="zh-CN" sz="1400" b="1" dirty="0">
                        <a:effectLst/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59384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1187679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78152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237536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96920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356304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415688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475072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127000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ds =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ms.dataset.MnistDataset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400" dirty="0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DATA_DIR)</a:t>
                      </a:r>
                      <a:endParaRPr lang="zh-CN" sz="1400" dirty="0">
                        <a:effectLst/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264">
                <a:tc>
                  <a:txBody>
                    <a:bodyPr/>
                    <a:lstStyle>
                      <a:lvl1pPr marL="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59384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1187679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78152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237536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96920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356304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415688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475072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127000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Cifar10Dataset</a:t>
                      </a:r>
                      <a:endParaRPr lang="zh-CN" sz="1400" b="1" dirty="0">
                        <a:effectLst/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59384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1187679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78152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237536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96920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356304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415688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475072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127000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ds 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= </a:t>
                      </a:r>
                      <a:r>
                        <a:rPr lang="en-US" altLang="zh-CN" sz="1400" dirty="0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ms.dataset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.Cifar10Dataset(DATA_DIR)</a:t>
                      </a:r>
                      <a:endParaRPr lang="zh-CN" sz="1400" dirty="0">
                        <a:effectLst/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264">
                <a:tc>
                  <a:txBody>
                    <a:bodyPr/>
                    <a:lstStyle/>
                    <a:p>
                      <a:pPr marL="127000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 err="1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CocoDataset</a:t>
                      </a:r>
                      <a:endParaRPr lang="zh-CN" sz="1400" b="1" dirty="0">
                        <a:effectLst/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/>
                    <a:p>
                      <a:pPr marL="127000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ds</a:t>
                      </a:r>
                      <a:r>
                        <a:rPr lang="en-US" altLang="zh-CN" sz="1400" baseline="0" dirty="0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US" altLang="zh-CN" sz="1400" dirty="0" err="1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ds.CocoDataset</a:t>
                      </a:r>
                      <a:r>
                        <a:rPr lang="en-US" altLang="zh-CN" sz="1400" dirty="0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(DATA_DIR, </a:t>
                      </a:r>
                      <a:r>
                        <a:rPr lang="en-US" altLang="zh-CN" sz="1400" dirty="0" err="1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annotation_file</a:t>
                      </a:r>
                      <a:r>
                        <a:rPr lang="en-US" altLang="zh-CN" sz="1400" dirty="0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altLang="zh-CN" sz="1400" dirty="0" err="1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annotation_file</a:t>
                      </a:r>
                      <a:r>
                        <a:rPr lang="en-US" altLang="zh-CN" sz="1400" dirty="0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, task='Detection')</a:t>
                      </a:r>
                      <a:endParaRPr lang="zh-CN" sz="1400" dirty="0">
                        <a:effectLst/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264">
                <a:tc>
                  <a:txBody>
                    <a:bodyPr/>
                    <a:lstStyle>
                      <a:lvl1pPr marL="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59384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1187679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78152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237536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96920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356304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415688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475072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127000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200" dirty="0" err="1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MindRecord</a:t>
                      </a:r>
                      <a:endParaRPr lang="zh-CN" sz="1400" b="1" dirty="0">
                        <a:effectLst/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36000" marT="0" marB="0" anchor="ctr"/>
                </a:tc>
                <a:tc>
                  <a:txBody>
                    <a:bodyPr/>
                    <a:lstStyle>
                      <a:lvl1pPr marL="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59384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1187679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78152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237536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96920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356304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415688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475072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127000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ds = </a:t>
                      </a:r>
                      <a:r>
                        <a:rPr lang="en-US" altLang="zh-CN" sz="1400" dirty="0" err="1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ds.MindDataset</a:t>
                      </a:r>
                      <a:r>
                        <a:rPr lang="en-US" altLang="zh-CN" sz="1400" dirty="0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(FILE_NAME)</a:t>
                      </a:r>
                      <a:endParaRPr lang="zh-CN" sz="1400" dirty="0">
                        <a:effectLst/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391">
                <a:tc>
                  <a:txBody>
                    <a:bodyPr/>
                    <a:lstStyle>
                      <a:lvl1pPr marL="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59384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1187679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78152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237536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96920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356304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415688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475072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127000" algn="l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200" dirty="0" err="1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GeneratorDataset</a:t>
                      </a:r>
                      <a:endParaRPr lang="zh-CN" sz="1400" b="1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59384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1187679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78152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237536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296920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356304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4156881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4750720" algn="l" defTabSz="1187679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127000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ds = </a:t>
                      </a:r>
                      <a:r>
                        <a:rPr lang="en-US" sz="1400" kern="1200" dirty="0" err="1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ds.GeneratorDataset</a:t>
                      </a:r>
                      <a:r>
                        <a:rPr lang="en-US" sz="1400" kern="1200" dirty="0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(GENERATOR, [“</a:t>
                      </a:r>
                      <a:r>
                        <a:rPr lang="en-US" altLang="zh-CN" sz="1400" kern="1200" dirty="0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image</a:t>
                      </a:r>
                      <a:r>
                        <a:rPr lang="en-US" sz="1400" kern="1200" dirty="0"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", “label"])</a:t>
                      </a:r>
                      <a:endParaRPr lang="zh-CN" sz="140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391">
                <a:tc>
                  <a:txBody>
                    <a:bodyPr/>
                    <a:lstStyle/>
                    <a:p>
                      <a:pPr marL="127000" algn="l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1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TextFileDataset</a:t>
                      </a:r>
                      <a:endParaRPr lang="zh-CN" sz="1400" b="1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00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dataset_files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= ["/path/to/1", "/path/to/2"] # contains 1 or multiple text files</a:t>
                      </a:r>
                    </a:p>
                    <a:p>
                      <a:pPr marL="127000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ds = </a:t>
                      </a:r>
                      <a:r>
                        <a:rPr lang="en-US" altLang="zh-CN" sz="14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ds.TextFileDataset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4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dataset_files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altLang="zh-CN" sz="14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dataset_files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140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391">
                <a:tc>
                  <a:txBody>
                    <a:bodyPr/>
                    <a:lstStyle/>
                    <a:p>
                      <a:pPr marL="127000" algn="l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1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GraphData</a:t>
                      </a:r>
                      <a:endParaRPr lang="zh-CN" sz="1400" b="1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00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ds = </a:t>
                      </a:r>
                      <a:r>
                        <a:rPr lang="en-US" altLang="zh-CN" sz="14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ds.GraphData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(DATA_DIR, 2)</a:t>
                      </a:r>
                    </a:p>
                    <a:p>
                      <a:pPr marL="127000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nodes = </a:t>
                      </a:r>
                      <a:r>
                        <a:rPr lang="en-US" altLang="zh-CN" sz="14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ds.get_all_edges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(0)</a:t>
                      </a:r>
                      <a:endParaRPr lang="zh-CN" sz="140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5656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2" descr="C:\Users\p00527797\AppData\Roaming\eSpace_Desktop\UserData\p00527797\imagefiles\0C48EF10-38E2-4ED2-89A5-6991E47F42DF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3942" y="3239972"/>
            <a:ext cx="1644954" cy="1542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图片 1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21" y="3094660"/>
            <a:ext cx="2737087" cy="1833004"/>
          </a:xfrm>
          <a:prstGeom prst="rect">
            <a:avLst/>
          </a:prstGeom>
        </p:spPr>
      </p:pic>
      <p:sp>
        <p:nvSpPr>
          <p:cNvPr id="16" name="右箭头 15"/>
          <p:cNvSpPr/>
          <p:nvPr/>
        </p:nvSpPr>
        <p:spPr>
          <a:xfrm>
            <a:off x="3464269" y="3771565"/>
            <a:ext cx="1210834" cy="479195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</a:pPr>
            <a:r>
              <a:rPr lang="zh-CN" altLang="en-US" sz="1000" b="1" dirty="0">
                <a:solidFill>
                  <a:srgbClr val="000000"/>
                </a:solidFill>
                <a:cs typeface="+mn-ea"/>
                <a:sym typeface="+mn-lt"/>
              </a:rPr>
              <a:t>数据处理和增强</a:t>
            </a:r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数据处理</a:t>
            </a:r>
          </a:p>
          <a:p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2"/>
          </p:nvPr>
        </p:nvSpPr>
        <p:spPr>
          <a:xfrm>
            <a:off x="726021" y="1449534"/>
            <a:ext cx="5592875" cy="1832837"/>
          </a:xfrm>
        </p:spPr>
        <p:txBody>
          <a:bodyPr/>
          <a:lstStyle/>
          <a:p>
            <a:r>
              <a:rPr lang="zh-CN" altLang="en-US" dirty="0"/>
              <a:t>数据处理</a:t>
            </a:r>
            <a:endParaRPr lang="en-US" altLang="zh-CN" dirty="0"/>
          </a:p>
          <a:p>
            <a:pPr lvl="1"/>
            <a:r>
              <a:rPr lang="zh-CN" altLang="en-US" dirty="0"/>
              <a:t>深度学习模型只能使用特定类型和格式的数据，所以数据需要处理。</a:t>
            </a:r>
            <a:endParaRPr lang="en-US" altLang="zh-CN" dirty="0"/>
          </a:p>
          <a:p>
            <a:pPr lvl="1"/>
            <a:r>
              <a:rPr lang="zh-CN" altLang="en-US" dirty="0"/>
              <a:t>以图片为例：将原始图片进行裁剪、大小缩放、归一化、格式转换等，以便深度学习模型能够使用。</a:t>
            </a:r>
            <a:endParaRPr lang="en-US" altLang="zh-CN" dirty="0"/>
          </a:p>
        </p:txBody>
      </p:sp>
      <p:grpSp>
        <p:nvGrpSpPr>
          <p:cNvPr id="11" name="组合 10"/>
          <p:cNvGrpSpPr/>
          <p:nvPr/>
        </p:nvGrpSpPr>
        <p:grpSpPr>
          <a:xfrm>
            <a:off x="726021" y="5416858"/>
            <a:ext cx="4085410" cy="573013"/>
            <a:chOff x="4184078" y="4555006"/>
            <a:chExt cx="4318702" cy="686193"/>
          </a:xfrm>
        </p:grpSpPr>
        <p:pic>
          <p:nvPicPr>
            <p:cNvPr id="12" name="d0e389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52851" y="4555006"/>
              <a:ext cx="3649929" cy="686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矩形 12"/>
            <p:cNvSpPr/>
            <p:nvPr/>
          </p:nvSpPr>
          <p:spPr>
            <a:xfrm>
              <a:off x="4184078" y="4555006"/>
              <a:ext cx="75212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NCHW</a:t>
              </a:r>
              <a:r>
                <a:rPr lang="zh-CN" altLang="en-US" sz="1200" dirty="0"/>
                <a:t>：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4184078" y="4898102"/>
              <a:ext cx="75046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NHWC</a:t>
              </a:r>
              <a:r>
                <a:rPr lang="zh-CN" altLang="en-US" sz="1200" dirty="0"/>
                <a:t>：</a:t>
              </a:r>
            </a:p>
          </p:txBody>
        </p:sp>
      </p:grpSp>
      <p:sp>
        <p:nvSpPr>
          <p:cNvPr id="15" name="内容占位符 2"/>
          <p:cNvSpPr txBox="1">
            <a:spLocks/>
          </p:cNvSpPr>
          <p:nvPr/>
        </p:nvSpPr>
        <p:spPr>
          <a:xfrm>
            <a:off x="726020" y="5144355"/>
            <a:ext cx="4057085" cy="272503"/>
          </a:xfrm>
          <a:prstGeom prst="rect">
            <a:avLst/>
          </a:prstGeom>
        </p:spPr>
        <p:txBody>
          <a:bodyPr>
            <a:no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格式转换：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MindSpore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支持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channel first</a:t>
            </a:r>
          </a:p>
        </p:txBody>
      </p:sp>
      <p:sp>
        <p:nvSpPr>
          <p:cNvPr id="17" name="矩形 16"/>
          <p:cNvSpPr/>
          <p:nvPr/>
        </p:nvSpPr>
        <p:spPr>
          <a:xfrm>
            <a:off x="6631930" y="1449534"/>
            <a:ext cx="4837885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(1)shuffle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shuffle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操作用来打乱数据集中的数据排序。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越大的</a:t>
            </a:r>
            <a:r>
              <a:rPr lang="en-US" altLang="zh-CN" sz="1600" dirty="0" err="1">
                <a:solidFill>
                  <a:srgbClr val="C7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buffer_size</a:t>
            </a:r>
            <a:r>
              <a:rPr lang="zh-CN" altLang="zh-CN" sz="1600" dirty="0">
                <a:solidFill>
                  <a:srgbClr val="C7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意味着</a:t>
            </a:r>
            <a:r>
              <a:rPr lang="zh-CN" altLang="en-US" sz="1600" dirty="0">
                <a:solidFill>
                  <a:srgbClr val="C7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</a:t>
            </a:r>
            <a:r>
              <a:rPr lang="zh-CN" altLang="zh-CN" sz="1600" dirty="0">
                <a:solidFill>
                  <a:srgbClr val="C7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高的混洗度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，但也意味着会花费更多的时间和计算资源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6690828" y="3236584"/>
            <a:ext cx="211756" cy="654518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alpha val="28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6979586" y="3236584"/>
            <a:ext cx="211756" cy="654518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alpha val="28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7279340" y="3236584"/>
            <a:ext cx="211756" cy="654518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alpha val="28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7590105" y="3236584"/>
            <a:ext cx="211756" cy="6545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alpha val="28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7904998" y="3236584"/>
            <a:ext cx="211756" cy="65451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alpha val="28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9394832" y="3236584"/>
            <a:ext cx="211756" cy="654518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alpha val="28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9683590" y="3236584"/>
            <a:ext cx="211756" cy="65451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alpha val="28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9983344" y="3236584"/>
            <a:ext cx="211756" cy="654518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alpha val="28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10294109" y="3236584"/>
            <a:ext cx="211756" cy="654518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alpha val="28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10609002" y="3236584"/>
            <a:ext cx="211756" cy="6545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alpha val="28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右箭头 27"/>
          <p:cNvSpPr/>
          <p:nvPr/>
        </p:nvSpPr>
        <p:spPr>
          <a:xfrm>
            <a:off x="8606253" y="3373613"/>
            <a:ext cx="471638" cy="375385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alpha val="28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085464" y="3878997"/>
            <a:ext cx="90477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before</a:t>
            </a:r>
            <a:endParaRPr lang="zh-CN" altLang="en-US" sz="1400" i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9825418" y="3896731"/>
            <a:ext cx="90477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after</a:t>
            </a:r>
            <a:endParaRPr lang="zh-CN" altLang="en-US" sz="1400" i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325565" y="3895856"/>
            <a:ext cx="106494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C700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shuffle(5)</a:t>
            </a:r>
            <a:endParaRPr lang="zh-CN" altLang="en-US" sz="1400" i="1" dirty="0">
              <a:solidFill>
                <a:srgbClr val="C7000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631930" y="4250760"/>
            <a:ext cx="4837885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(2)batch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在训练时，数据可能需要分批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batch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处理。</a:t>
            </a:r>
          </a:p>
        </p:txBody>
      </p:sp>
      <p:sp>
        <p:nvSpPr>
          <p:cNvPr id="34" name="圆角矩形 33"/>
          <p:cNvSpPr/>
          <p:nvPr/>
        </p:nvSpPr>
        <p:spPr>
          <a:xfrm>
            <a:off x="6729264" y="5408795"/>
            <a:ext cx="211756" cy="654518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alpha val="28000"/>
                </a:schemeClr>
              </a:solidFill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7018022" y="5408795"/>
            <a:ext cx="211756" cy="654518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alpha val="28000"/>
                </a:schemeClr>
              </a:solidFill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7317776" y="5408795"/>
            <a:ext cx="211756" cy="654518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alpha val="28000"/>
                </a:schemeClr>
              </a:solidFill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7628541" y="5408795"/>
            <a:ext cx="211756" cy="6545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alpha val="28000"/>
                </a:schemeClr>
              </a:solidFill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7943434" y="5408795"/>
            <a:ext cx="211756" cy="65451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alpha val="28000"/>
                </a:schemeClr>
              </a:solidFill>
            </a:endParaRPr>
          </a:p>
        </p:txBody>
      </p:sp>
      <p:sp>
        <p:nvSpPr>
          <p:cNvPr id="39" name="右箭头 38"/>
          <p:cNvSpPr/>
          <p:nvPr/>
        </p:nvSpPr>
        <p:spPr>
          <a:xfrm>
            <a:off x="8644689" y="5545824"/>
            <a:ext cx="471638" cy="375385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alpha val="28000"/>
                </a:schemeClr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7123900" y="6146458"/>
            <a:ext cx="90477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before</a:t>
            </a:r>
            <a:endParaRPr lang="zh-CN" altLang="en-US" sz="1400" i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9999669" y="6154479"/>
            <a:ext cx="90477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after</a:t>
            </a:r>
            <a:endParaRPr lang="zh-CN" altLang="en-US" sz="1400" i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507498" y="6146457"/>
            <a:ext cx="90477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C700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batch(2)</a:t>
            </a:r>
            <a:endParaRPr lang="zh-CN" altLang="en-US" sz="1400" i="1" dirty="0">
              <a:solidFill>
                <a:srgbClr val="C7000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8280062" y="5408795"/>
            <a:ext cx="211756" cy="654518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alpha val="28000"/>
                </a:schemeClr>
              </a:solidFill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9400746" y="5411923"/>
            <a:ext cx="211756" cy="654518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alpha val="28000"/>
                </a:schemeClr>
              </a:solidFill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9622129" y="5411923"/>
            <a:ext cx="211756" cy="654518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alpha val="28000"/>
                </a:schemeClr>
              </a:solidFill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10066258" y="5411923"/>
            <a:ext cx="211756" cy="654518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alpha val="28000"/>
                </a:schemeClr>
              </a:solidFill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10300023" y="5411923"/>
            <a:ext cx="211756" cy="65451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alpha val="28000"/>
                </a:schemeClr>
              </a:solidFill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10720791" y="5411923"/>
            <a:ext cx="211756" cy="65451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alpha val="28000"/>
                </a:schemeClr>
              </a:solidFill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10951544" y="5411923"/>
            <a:ext cx="211756" cy="654518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alpha val="28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8655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内容占位符 2"/>
          <p:cNvSpPr txBox="1">
            <a:spLocks/>
          </p:cNvSpPr>
          <p:nvPr/>
        </p:nvSpPr>
        <p:spPr>
          <a:xfrm>
            <a:off x="3763860" y="2446694"/>
            <a:ext cx="4035238" cy="543153"/>
          </a:xfrm>
          <a:prstGeom prst="rect">
            <a:avLst/>
          </a:prstGeom>
        </p:spPr>
        <p:txBody>
          <a:bodyPr>
            <a:no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为何数据增强？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有限数据和复杂模型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→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过拟合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数据增强</a:t>
            </a:r>
          </a:p>
          <a:p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2"/>
          </p:nvPr>
        </p:nvSpPr>
        <p:spPr>
          <a:xfrm>
            <a:off x="726021" y="1449534"/>
            <a:ext cx="10743794" cy="767193"/>
          </a:xfrm>
        </p:spPr>
        <p:txBody>
          <a:bodyPr/>
          <a:lstStyle/>
          <a:p>
            <a:r>
              <a:rPr lang="zh-CN" altLang="en-US" dirty="0"/>
              <a:t>数据增强</a:t>
            </a:r>
            <a:endParaRPr lang="en-US" altLang="zh-CN" dirty="0"/>
          </a:p>
          <a:p>
            <a:pPr lvl="1"/>
            <a:r>
              <a:rPr lang="zh-CN" altLang="en-US" dirty="0"/>
              <a:t>一种创造 “新”数据的方法，从有限数据中生成“更多数据”，防止过拟合现象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1550" y="2989847"/>
            <a:ext cx="4719858" cy="992679"/>
          </a:xfrm>
          <a:prstGeom prst="rect">
            <a:avLst/>
          </a:prstGeom>
        </p:spPr>
      </p:pic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197901"/>
              </p:ext>
            </p:extLst>
          </p:nvPr>
        </p:nvGraphicFramePr>
        <p:xfrm>
          <a:off x="726021" y="4292404"/>
          <a:ext cx="10743793" cy="130724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3789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7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7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0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9911">
                <a:tc>
                  <a:txBody>
                    <a:bodyPr/>
                    <a:lstStyle/>
                    <a:p>
                      <a:r>
                        <a:rPr lang="zh-CN" altLang="en-US" sz="1400" b="1" dirty="0">
                          <a:effectLst/>
                        </a:rPr>
                        <a:t>模块</a:t>
                      </a:r>
                      <a:endParaRPr lang="zh-CN" altLang="en-US" sz="14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182" marR="130182" marT="65091" marB="65091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b="1" dirty="0">
                          <a:effectLst/>
                        </a:rPr>
                        <a:t>实现</a:t>
                      </a:r>
                      <a:endParaRPr lang="zh-CN" altLang="en-US" sz="14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182" marR="130182" marT="65091" marB="65091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b="1" dirty="0">
                          <a:effectLst/>
                        </a:rPr>
                        <a:t>描述</a:t>
                      </a:r>
                      <a:endParaRPr lang="zh-CN" altLang="en-US" sz="14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182" marR="130182" marT="65091" marB="65091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算子示例</a:t>
                      </a:r>
                    </a:p>
                  </a:txBody>
                  <a:tcPr marL="130182" marR="130182" marT="65091" marB="6509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911">
                <a:tc>
                  <a:txBody>
                    <a:bodyPr/>
                    <a:lstStyle/>
                    <a:p>
                      <a:pPr fontAlgn="ctr"/>
                      <a:r>
                        <a:rPr lang="en-US" sz="1400" dirty="0" err="1">
                          <a:effectLst/>
                        </a:rPr>
                        <a:t>c_transforms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182" marR="130182" marT="65091" marB="65091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altLang="zh-CN" sz="1400" dirty="0">
                          <a:effectLst/>
                        </a:rPr>
                        <a:t>Based</a:t>
                      </a:r>
                      <a:r>
                        <a:rPr lang="en-US" altLang="zh-CN" sz="1400" baseline="0" dirty="0">
                          <a:effectLst/>
                        </a:rPr>
                        <a:t> on C++ </a:t>
                      </a:r>
                      <a:r>
                        <a:rPr lang="en-US" altLang="zh-CN" sz="1400" dirty="0" err="1">
                          <a:effectLst/>
                        </a:rPr>
                        <a:t>OpenCV</a:t>
                      </a:r>
                      <a:endParaRPr lang="zh-CN" alt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182" marR="130182" marT="65091" marB="65091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zh-CN" altLang="en-US" sz="1400" dirty="0">
                          <a:effectLst/>
                        </a:rPr>
                        <a:t>高性能。</a:t>
                      </a:r>
                      <a:endParaRPr lang="zh-CN" alt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182" marR="130182" marT="65091" marB="65091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altLang="zh-CN" sz="1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RandomCrop</a:t>
                      </a:r>
                      <a:r>
                        <a:rPr lang="en-US" altLang="zh-CN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zh-CN" sz="1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RandomHorizontalFlip</a:t>
                      </a:r>
                      <a:r>
                        <a:rPr lang="en-US" altLang="zh-CN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  <a:r>
                        <a:rPr lang="en-US" altLang="zh-CN" sz="140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Invert</a:t>
                      </a:r>
                      <a:endParaRPr lang="zh-CN" alt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182" marR="130182" marT="65091" marB="6509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156">
                <a:tc>
                  <a:txBody>
                    <a:bodyPr/>
                    <a:lstStyle/>
                    <a:p>
                      <a:pPr fontAlgn="ctr"/>
                      <a:r>
                        <a:rPr lang="en-US" sz="1400">
                          <a:effectLst/>
                        </a:rPr>
                        <a:t>py_transforms</a:t>
                      </a:r>
                      <a:endParaRPr lang="en-US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182" marR="130182" marT="65091" marB="65091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altLang="zh-CN" sz="1400" dirty="0">
                          <a:effectLst/>
                        </a:rPr>
                        <a:t>Based</a:t>
                      </a:r>
                      <a:r>
                        <a:rPr lang="en-US" altLang="zh-CN" sz="1400" baseline="0" dirty="0">
                          <a:effectLst/>
                        </a:rPr>
                        <a:t> on </a:t>
                      </a:r>
                      <a:r>
                        <a:rPr lang="en-US" altLang="zh-CN" sz="1400" dirty="0">
                          <a:effectLst/>
                        </a:rPr>
                        <a:t>Python</a:t>
                      </a:r>
                      <a:r>
                        <a:rPr lang="zh-CN" altLang="en-US" sz="1400" baseline="0" dirty="0">
                          <a:effectLst/>
                        </a:rPr>
                        <a:t> </a:t>
                      </a:r>
                      <a:r>
                        <a:rPr lang="en-US" altLang="zh-CN" sz="1400" dirty="0">
                          <a:effectLst/>
                        </a:rPr>
                        <a:t>PIL</a:t>
                      </a:r>
                      <a:endParaRPr lang="zh-CN" alt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182" marR="130182" marT="65091" marB="65091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zh-CN" alt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很多数据增强方法。</a:t>
                      </a:r>
                    </a:p>
                  </a:txBody>
                  <a:tcPr marL="130182" marR="130182" marT="65091" marB="65091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altLang="zh-CN" sz="1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RandomCrop</a:t>
                      </a:r>
                      <a:r>
                        <a:rPr lang="en-US" altLang="zh-CN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Invert, Compose</a:t>
                      </a:r>
                      <a:endParaRPr lang="zh-CN" alt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182" marR="130182" marT="65091" marB="6509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1356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副标题 1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代码实例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729175" y="1449534"/>
            <a:ext cx="10740640" cy="44012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def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create_dataset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(data_dir, training=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True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batch_size=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32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resize=(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32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32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),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           rescale=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/(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255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*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0.3081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), shift=-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0.1307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/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0.3081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buffer_size=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64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):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#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训练集和测试集路径</a:t>
            </a:r>
            <a:b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data_train = os.path.join(data_dir, 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‘train’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data_test = os.path.join(data_dir, 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‘test’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#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加载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MNIST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数据集</a:t>
            </a:r>
            <a:b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ds = ms.dataset.MnistDataset(data_train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if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training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else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data_test)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# </a:t>
            </a:r>
            <a:r>
              <a:rPr kumimoji="0" lang="zh-CN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通过</a:t>
            </a:r>
            <a:r>
              <a:rPr kumimoji="0" lang="en-US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map</a:t>
            </a:r>
            <a:r>
              <a:rPr kumimoji="0" lang="zh-CN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方法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对每张图片应用数据处理操作：</a:t>
            </a:r>
            <a:b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# Resize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：</a:t>
            </a:r>
            <a:r>
              <a:rPr kumimoji="0" lang="zh-CN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缩放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图片大小</a:t>
            </a:r>
            <a:b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# Rescale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：将每个像素的灰度值</a:t>
            </a:r>
            <a:r>
              <a:rPr kumimoji="0" lang="zh-CN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由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[0, 255]</a:t>
            </a:r>
            <a:r>
              <a:rPr lang="zh-CN" altLang="en-US" sz="1400" i="1" dirty="0">
                <a:solidFill>
                  <a:srgbClr val="8C8C8C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标准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化到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[-1, 1]</a:t>
            </a:r>
            <a:b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    # HWC2CHW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：将张量格式从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NHWC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转换成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NCHW</a:t>
            </a:r>
            <a:b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ds = ds.map(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input_columns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=[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“image”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],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operations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=[CV.Resize(resize), CV.Rescale(rescale, shift), CV.HWC2CHW()])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#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将每个标签的数据类型转换为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int32</a:t>
            </a:r>
            <a:b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ds = ds.map(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input_columns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=[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“label”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],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operations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=C.TypeCast(ms.int32))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#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当在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Ascend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环境上使用数据下沉模型时</a:t>
            </a:r>
            <a:r>
              <a:rPr kumimoji="0" lang="zh-CN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，设置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`dataset_sink_mode=True`</a:t>
            </a:r>
            <a:b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ds = ds.shuffle(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buffer_size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=buffer_size).batch(batch_size,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drop_remainder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True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return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ds</a:t>
            </a:r>
            <a:endParaRPr kumimoji="0" lang="zh-CN" altLang="zh-CN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1157680" y="2807733"/>
            <a:ext cx="6694415" cy="234892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6179127" y="4085955"/>
            <a:ext cx="4407778" cy="234892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789963" y="4283378"/>
            <a:ext cx="1223395" cy="234892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圆角矩形 25"/>
          <p:cNvSpPr/>
          <p:nvPr/>
        </p:nvSpPr>
        <p:spPr>
          <a:xfrm>
            <a:off x="1679196" y="5146063"/>
            <a:ext cx="7330580" cy="234892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914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10D792-4102-9E49-9911-6FCBEA89B2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33620" y="1843088"/>
            <a:ext cx="10122060" cy="4170534"/>
          </a:xfrm>
        </p:spPr>
        <p:txBody>
          <a:bodyPr/>
          <a:lstStyle/>
          <a:p>
            <a:r>
              <a:rPr lang="zh-CN" altLang="en-US" dirty="0"/>
              <a:t>编程概念</a:t>
            </a:r>
            <a:endParaRPr lang="en-US" altLang="zh-CN" dirty="0"/>
          </a:p>
          <a:p>
            <a:r>
              <a:rPr lang="zh-CN" altLang="en-US" dirty="0"/>
              <a:t>案例介绍</a:t>
            </a:r>
            <a:endParaRPr lang="en-US" altLang="zh-CN" dirty="0"/>
          </a:p>
          <a:p>
            <a:r>
              <a:rPr lang="zh-CN" altLang="en-US" dirty="0"/>
              <a:t>数据处理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模型定义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模型训练</a:t>
            </a:r>
            <a:endParaRPr lang="en-US" altLang="zh-CN" dirty="0"/>
          </a:p>
          <a:p>
            <a:r>
              <a:rPr lang="zh-CN" altLang="en-US" dirty="0"/>
              <a:t>模型推理</a:t>
            </a:r>
            <a:endParaRPr lang="en-US" altLang="zh-CN" dirty="0"/>
          </a:p>
          <a:p>
            <a:r>
              <a:rPr lang="zh-CN" altLang="en-US" dirty="0"/>
              <a:t>网络迁移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808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卷积（</a:t>
            </a:r>
            <a:r>
              <a:rPr lang="en-US" altLang="zh-CN" dirty="0"/>
              <a:t>Convolution</a:t>
            </a:r>
            <a:r>
              <a:rPr lang="zh-CN" altLang="en-US" dirty="0"/>
              <a:t>）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452" y="3169168"/>
            <a:ext cx="2577075" cy="173159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4052" y="3129587"/>
            <a:ext cx="1420081" cy="1574742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7586" y="3201514"/>
            <a:ext cx="1023050" cy="1342347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8592" y="3169168"/>
            <a:ext cx="1352564" cy="153516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4661" y="3201514"/>
            <a:ext cx="882959" cy="1154639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77962" y="3127489"/>
            <a:ext cx="1978604" cy="1813721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753663" y="2590235"/>
            <a:ext cx="325602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 and Output Channels</a:t>
            </a:r>
          </a:p>
        </p:txBody>
      </p:sp>
      <p:sp>
        <p:nvSpPr>
          <p:cNvPr id="21" name="矩形 20"/>
          <p:cNvSpPr/>
          <p:nvPr/>
        </p:nvSpPr>
        <p:spPr>
          <a:xfrm>
            <a:off x="4755950" y="2579995"/>
            <a:ext cx="27008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Kernel Size and Stride</a:t>
            </a:r>
          </a:p>
        </p:txBody>
      </p:sp>
      <p:sp>
        <p:nvSpPr>
          <p:cNvPr id="22" name="矩形 21"/>
          <p:cNvSpPr/>
          <p:nvPr/>
        </p:nvSpPr>
        <p:spPr>
          <a:xfrm>
            <a:off x="9885433" y="2590235"/>
            <a:ext cx="13010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Padding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777905" y="5009351"/>
                <a:ext cx="1074064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𝑦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=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𝑐𝑜𝑛𝑣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𝑥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:</a:t>
                </a:r>
              </a:p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接受一个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维的张量作为输入，返回一个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维的张量作为输出，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维即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𝑏𝑎𝑡𝑐h𝑠𝑖𝑧𝑒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∗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𝑐h𝑎𝑛𝑛𝑒𝑙𝑠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∗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h𝑒𝑖𝑔h𝑡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∗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𝑤𝑖𝑑𝑡h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设定的参数决定了输出的特征图的大小：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h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_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𝑜𝑢𝑡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h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_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𝑖𝑛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𝑘𝑒𝑟𝑛𝑒𝑙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_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𝑠𝑖𝑧𝑒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+2∗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𝑝𝑎𝑑𝑑𝑖𝑛𝑔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)/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𝑠𝑡𝑟𝑖𝑑𝑒𝑠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</m:t>
                    </m:r>
                  </m:oMath>
                </a14:m>
                <a:endParaRPr lang="en-US" altLang="zh-CN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905" y="5009351"/>
                <a:ext cx="10740640" cy="1200329"/>
              </a:xfrm>
              <a:prstGeom prst="rect">
                <a:avLst/>
              </a:prstGeom>
              <a:blipFill rotWithShape="0">
                <a:blip r:embed="rId11"/>
                <a:stretch>
                  <a:fillRect l="-511" t="-3046" b="-7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3854052" y="4670529"/>
            <a:ext cx="246253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kernel_size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=3, stride=1, padding=0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488592" y="4670529"/>
            <a:ext cx="246253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kernel_size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=3, stride=2, padding=0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592625" y="1570929"/>
            <a:ext cx="2621326" cy="240337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bg1">
                  <a:alpha val="28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592625" y="1889352"/>
            <a:ext cx="2390436" cy="252000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bg1">
                  <a:alpha val="28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592623" y="2201059"/>
            <a:ext cx="1492815" cy="252000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solidFill>
                <a:schemeClr val="bg1">
                  <a:alpha val="28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213951" y="147969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①</a:t>
            </a:r>
          </a:p>
        </p:txBody>
      </p:sp>
      <p:sp>
        <p:nvSpPr>
          <p:cNvPr id="32" name="矩形 31"/>
          <p:cNvSpPr/>
          <p:nvPr/>
        </p:nvSpPr>
        <p:spPr>
          <a:xfrm>
            <a:off x="2243912" y="180180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②</a:t>
            </a:r>
          </a:p>
        </p:txBody>
      </p:sp>
      <p:sp>
        <p:nvSpPr>
          <p:cNvPr id="33" name="矩形 32"/>
          <p:cNvSpPr/>
          <p:nvPr/>
        </p:nvSpPr>
        <p:spPr>
          <a:xfrm>
            <a:off x="2243912" y="2112157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③</a:t>
            </a:r>
          </a:p>
        </p:txBody>
      </p:sp>
      <p:sp>
        <p:nvSpPr>
          <p:cNvPr id="34" name="矩形 33"/>
          <p:cNvSpPr/>
          <p:nvPr/>
        </p:nvSpPr>
        <p:spPr>
          <a:xfrm>
            <a:off x="729175" y="1446181"/>
            <a:ext cx="10740640" cy="107591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conv1 =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nn.Conv2d(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in_channels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out_channels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        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kernel_size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</a:rPr>
              <a:t>stride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has_bias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weight_init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</a:t>
            </a:r>
            <a:r>
              <a:rPr lang="zh-CN" altLang="zh-CN" sz="1400" b="1" dirty="0">
                <a:solidFill>
                  <a:srgbClr val="008080"/>
                </a:solidFill>
                <a:latin typeface="Consolas" panose="020B0609020204030204" pitchFamily="49" charset="0"/>
                <a:ea typeface="JetBrains Mono"/>
              </a:rPr>
              <a:t>'normal'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bias_init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</a:t>
            </a:r>
            <a:r>
              <a:rPr lang="zh-CN" altLang="zh-CN" sz="1400" b="1" dirty="0">
                <a:solidFill>
                  <a:srgbClr val="008080"/>
                </a:solidFill>
                <a:latin typeface="Consolas" panose="020B0609020204030204" pitchFamily="49" charset="0"/>
                <a:ea typeface="JetBrains Mono"/>
              </a:rPr>
              <a:t>'</a:t>
            </a:r>
            <a:r>
              <a:rPr lang="en-US" altLang="zh-CN" sz="1400" b="1" dirty="0" err="1">
                <a:solidFill>
                  <a:srgbClr val="008080"/>
                </a:solidFill>
                <a:latin typeface="Consolas" panose="020B0609020204030204" pitchFamily="49" charset="0"/>
                <a:ea typeface="JetBrains Mono"/>
              </a:rPr>
              <a:t>zeros</a:t>
            </a:r>
            <a:r>
              <a:rPr lang="zh-CN" altLang="zh-CN" sz="1400" b="1" dirty="0">
                <a:solidFill>
                  <a:srgbClr val="008080"/>
                </a:solidFill>
                <a:latin typeface="Consolas" panose="020B0609020204030204" pitchFamily="49" charset="0"/>
                <a:ea typeface="JetBrains Mono"/>
              </a:rPr>
              <a:t>'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</a:rPr>
              <a:t>        	         </a:t>
            </a:r>
            <a:r>
              <a:rPr lang="en-US" altLang="zh-C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pad_mode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</a:t>
            </a:r>
            <a:r>
              <a:rPr lang="zh-CN" altLang="zh-CN" sz="1400" b="1" dirty="0">
                <a:solidFill>
                  <a:srgbClr val="008080"/>
                </a:solidFill>
                <a:latin typeface="Consolas" panose="020B0609020204030204" pitchFamily="49" charset="0"/>
                <a:ea typeface="JetBrains Mono"/>
              </a:rPr>
              <a:t>'</a:t>
            </a:r>
            <a:r>
              <a:rPr lang="en-US" altLang="zh-CN" sz="1400" b="1" dirty="0">
                <a:solidFill>
                  <a:srgbClr val="008080"/>
                </a:solidFill>
                <a:latin typeface="Consolas" panose="020B0609020204030204" pitchFamily="49" charset="0"/>
                <a:ea typeface="JetBrains Mono"/>
              </a:rPr>
              <a:t>same</a:t>
            </a:r>
            <a:r>
              <a:rPr lang="zh-CN" altLang="zh-CN" sz="1400" b="1" dirty="0">
                <a:solidFill>
                  <a:srgbClr val="008080"/>
                </a:solidFill>
                <a:latin typeface="Consolas" panose="020B0609020204030204" pitchFamily="49" charset="0"/>
                <a:ea typeface="JetBrains Mono"/>
              </a:rPr>
              <a:t>'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</a:rPr>
              <a:t>padding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27334232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激活函数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332" y="2549416"/>
            <a:ext cx="2696133" cy="174679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9775" y="2558201"/>
            <a:ext cx="2749616" cy="17292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0036" y="2618857"/>
            <a:ext cx="2722873" cy="17901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998405" y="4409033"/>
                <a:ext cx="2237984" cy="5590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solidFill>
                            <a:srgbClr val="1D1D1A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𝑆𝑖𝑔𝑚𝑜𝑖𝑑</m:t>
                      </m:r>
                      <m:d>
                        <m:dPr>
                          <m:ctrlPr>
                            <a:rPr lang="en-US" altLang="zh-CN" sz="1600" i="1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sz="1600" i="1">
                          <a:solidFill>
                            <a:srgbClr val="1D1D1A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1600" i="1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i="1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zh-CN" sz="1600" i="1">
                                  <a:solidFill>
                                    <a:srgbClr val="1D1D1A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>
                                  <a:solidFill>
                                    <a:srgbClr val="1D1D1A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1600" i="1">
                                  <a:solidFill>
                                    <a:srgbClr val="1D1D1A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−</m:t>
                              </m:r>
                              <m:r>
                                <a:rPr lang="en-US" altLang="zh-CN" sz="1600" i="1">
                                  <a:solidFill>
                                    <a:srgbClr val="1D1D1A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600" dirty="0">
                  <a:solidFill>
                    <a:srgbClr val="1D1D1A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405" y="4409033"/>
                <a:ext cx="2237984" cy="559064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5024292" y="4409034"/>
                <a:ext cx="2086982" cy="5705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solidFill>
                            <a:srgbClr val="1D1D1A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 </m:t>
                      </m:r>
                      <m:r>
                        <a:rPr lang="en-US" altLang="zh-CN" sz="1600" i="1">
                          <a:solidFill>
                            <a:srgbClr val="1D1D1A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𝑇𝑎𝑛h</m:t>
                      </m:r>
                      <m:d>
                        <m:dPr>
                          <m:ctrlPr>
                            <a:rPr lang="en-US" altLang="zh-CN" sz="1600" i="1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sz="1600" i="1">
                          <a:solidFill>
                            <a:srgbClr val="1D1D1A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1600" i="1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600" i="1">
                                  <a:solidFill>
                                    <a:srgbClr val="1D1D1A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>
                                  <a:solidFill>
                                    <a:srgbClr val="1D1D1A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1600" i="1">
                                  <a:solidFill>
                                    <a:srgbClr val="1D1D1A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altLang="zh-CN" sz="1600" i="1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1600" i="1">
                                  <a:solidFill>
                                    <a:srgbClr val="1D1D1A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>
                                  <a:solidFill>
                                    <a:srgbClr val="1D1D1A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1600" i="1">
                                  <a:solidFill>
                                    <a:srgbClr val="1D1D1A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−</m:t>
                              </m:r>
                              <m:r>
                                <a:rPr lang="en-US" altLang="zh-CN" sz="1600" i="1">
                                  <a:solidFill>
                                    <a:srgbClr val="1D1D1A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1600" i="1">
                                  <a:solidFill>
                                    <a:srgbClr val="1D1D1A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>
                                  <a:solidFill>
                                    <a:srgbClr val="1D1D1A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1600" i="1">
                                  <a:solidFill>
                                    <a:srgbClr val="1D1D1A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altLang="zh-CN" sz="1600" i="1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1600" i="1">
                                  <a:solidFill>
                                    <a:srgbClr val="1D1D1A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>
                                  <a:solidFill>
                                    <a:srgbClr val="1D1D1A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1600" i="1">
                                  <a:solidFill>
                                    <a:srgbClr val="1D1D1A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−</m:t>
                              </m:r>
                              <m:r>
                                <a:rPr lang="en-US" altLang="zh-CN" sz="1600" i="1">
                                  <a:solidFill>
                                    <a:srgbClr val="1D1D1A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>
                  <a:solidFill>
                    <a:srgbClr val="1D1D1A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4292" y="4409034"/>
                <a:ext cx="2086982" cy="570541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8637959" y="4409033"/>
                <a:ext cx="2119426" cy="5283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ts val="344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solidFill>
                            <a:srgbClr val="1D1D1A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𝑅𝑒𝐿</m:t>
                      </m:r>
                      <m:r>
                        <a:rPr lang="en-US" altLang="zh-CN" sz="1600" b="0" i="1" smtClean="0">
                          <a:solidFill>
                            <a:srgbClr val="1D1D1A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𝑈</m:t>
                      </m:r>
                      <m:d>
                        <m:dPr>
                          <m:ctrlPr>
                            <a:rPr lang="en-US" altLang="zh-CN" sz="1600" i="1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solidFill>
                                <a:srgbClr val="1D1D1A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sz="1600" i="1">
                          <a:solidFill>
                            <a:srgbClr val="1D1D1A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1600">
                          <a:solidFill>
                            <a:srgbClr val="1D1D1A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max</m:t>
                      </m:r>
                      <m:r>
                        <a:rPr lang="en-US" altLang="zh-CN" sz="1600" i="1">
                          <a:solidFill>
                            <a:srgbClr val="1D1D1A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⁡(0,</m:t>
                      </m:r>
                      <m:r>
                        <a:rPr lang="en-US" altLang="zh-CN" sz="1600" i="1">
                          <a:solidFill>
                            <a:srgbClr val="1D1D1A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𝑥</m:t>
                      </m:r>
                      <m:r>
                        <a:rPr lang="en-US" altLang="zh-CN" sz="1600" i="1">
                          <a:solidFill>
                            <a:srgbClr val="1D1D1A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en-US" altLang="zh-CN" sz="1600" dirty="0">
                  <a:solidFill>
                    <a:srgbClr val="1D1D1A"/>
                  </a:solidFill>
                  <a:latin typeface="Calibri" panose="020F0502020204030204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7959" y="4409033"/>
                <a:ext cx="2119426" cy="52835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729175" y="1449056"/>
            <a:ext cx="1074064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nsolas" panose="020B0609020204030204" pitchFamily="49" charset="0"/>
              </a:rPr>
              <a:t>sigmoid = </a:t>
            </a:r>
            <a:r>
              <a:rPr lang="en-US" altLang="zh-CN" sz="1400" dirty="0" err="1">
                <a:latin typeface="Consolas" panose="020B0609020204030204" pitchFamily="49" charset="0"/>
              </a:rPr>
              <a:t>nn.Sigmoid</a:t>
            </a:r>
            <a:r>
              <a:rPr lang="en-US" altLang="zh-CN" sz="1400" dirty="0">
                <a:latin typeface="Consolas" panose="020B0609020204030204" pitchFamily="49" charset="0"/>
              </a:rPr>
              <a:t>()</a:t>
            </a:r>
          </a:p>
          <a:p>
            <a:r>
              <a:rPr lang="en-US" altLang="zh-CN" sz="1400" dirty="0" err="1">
                <a:latin typeface="Consolas" panose="020B0609020204030204" pitchFamily="49" charset="0"/>
              </a:rPr>
              <a:t>tanh</a:t>
            </a:r>
            <a:r>
              <a:rPr lang="en-US" altLang="zh-CN" sz="1400" dirty="0">
                <a:latin typeface="Consolas" panose="020B0609020204030204" pitchFamily="49" charset="0"/>
              </a:rPr>
              <a:t> = </a:t>
            </a:r>
            <a:r>
              <a:rPr lang="en-US" altLang="zh-CN" sz="1400" dirty="0" err="1">
                <a:latin typeface="Consolas" panose="020B0609020204030204" pitchFamily="49" charset="0"/>
              </a:rPr>
              <a:t>nn.Tanh</a:t>
            </a:r>
            <a:r>
              <a:rPr lang="en-US" altLang="zh-CN" sz="1400" dirty="0">
                <a:latin typeface="Consolas" panose="020B0609020204030204" pitchFamily="49" charset="0"/>
              </a:rPr>
              <a:t>()</a:t>
            </a:r>
          </a:p>
          <a:p>
            <a:r>
              <a:rPr lang="en-US" altLang="zh-CN" sz="1400" dirty="0" err="1">
                <a:latin typeface="Consolas" panose="020B0609020204030204" pitchFamily="49" charset="0"/>
              </a:rPr>
              <a:t>relu</a:t>
            </a:r>
            <a:r>
              <a:rPr lang="en-US" altLang="zh-CN" sz="1400" dirty="0">
                <a:latin typeface="Consolas" panose="020B0609020204030204" pitchFamily="49" charset="0"/>
              </a:rPr>
              <a:t> = </a:t>
            </a:r>
            <a:r>
              <a:rPr lang="en-US" altLang="zh-CN" sz="1400" dirty="0" err="1">
                <a:latin typeface="Consolas" panose="020B0609020204030204" pitchFamily="49" charset="0"/>
              </a:rPr>
              <a:t>nn.ReLU</a:t>
            </a:r>
            <a:r>
              <a:rPr lang="en-US" altLang="zh-CN" sz="1400" dirty="0">
                <a:latin typeface="Consolas" panose="020B0609020204030204" pitchFamily="49" charset="0"/>
              </a:rPr>
              <a:t>()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29175" y="5383527"/>
            <a:ext cx="75713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在卷积层之后引入激活函数进行非线性变换，可以提高模型的拟合能力。</a:t>
            </a:r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1439819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全连接（</a:t>
            </a:r>
            <a:r>
              <a:rPr lang="en-US" altLang="zh-CN" dirty="0"/>
              <a:t>Dense</a:t>
            </a:r>
            <a:r>
              <a:rPr lang="zh-CN" altLang="en-US" dirty="0"/>
              <a:t>）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955" y="2059038"/>
            <a:ext cx="3819860" cy="1891326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732370" y="2541815"/>
            <a:ext cx="5474201" cy="1013989"/>
            <a:chOff x="1209746" y="3800212"/>
            <a:chExt cx="5474201" cy="1013989"/>
          </a:xfrm>
        </p:grpSpPr>
        <p:sp>
          <p:nvSpPr>
            <p:cNvPr id="7" name="矩形 6"/>
            <p:cNvSpPr/>
            <p:nvPr/>
          </p:nvSpPr>
          <p:spPr>
            <a:xfrm>
              <a:off x="1525334" y="4070596"/>
              <a:ext cx="757223" cy="3903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133933" y="4061533"/>
              <a:ext cx="375161" cy="6614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209746" y="4132293"/>
              <a:ext cx="27603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N</a:t>
              </a:r>
              <a:endParaRPr lang="zh-CN" altLang="en-US" sz="1100" dirty="0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447261" y="3806108"/>
              <a:ext cx="81945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in_</a:t>
              </a: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r>
                <a:rPr lang="zh-CN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hannels</a:t>
              </a:r>
              <a:endParaRPr lang="zh-CN" altLang="en-US" sz="900" dirty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860379" y="3800212"/>
              <a:ext cx="92226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out</a:t>
              </a:r>
              <a:r>
                <a:rPr lang="zh-CN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_</a:t>
              </a: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r>
                <a:rPr lang="zh-CN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hannels</a:t>
              </a:r>
              <a:endParaRPr lang="zh-CN" altLang="en-US" sz="900" dirty="0"/>
            </a:p>
          </p:txBody>
        </p:sp>
        <p:sp>
          <p:nvSpPr>
            <p:cNvPr id="12" name="文本框 11"/>
            <p:cNvSpPr txBox="1"/>
            <p:nvPr/>
          </p:nvSpPr>
          <p:spPr>
            <a:xfrm rot="16200000">
              <a:off x="2593184" y="4276851"/>
              <a:ext cx="84386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in_</a:t>
              </a: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r>
                <a:rPr lang="zh-CN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hannels</a:t>
              </a:r>
              <a:endParaRPr lang="zh-CN" altLang="en-US" sz="900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4302232" y="4070596"/>
              <a:ext cx="375161" cy="3850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018229" y="4130656"/>
              <a:ext cx="22543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/>
                <a:t>N</a:t>
              </a:r>
              <a:endParaRPr lang="zh-CN" altLang="en-US" sz="1100" dirty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021952" y="3806108"/>
              <a:ext cx="93052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out</a:t>
              </a:r>
              <a:r>
                <a:rPr lang="zh-CN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_</a:t>
              </a: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r>
                <a:rPr lang="zh-CN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hannels</a:t>
              </a:r>
              <a:endParaRPr lang="zh-CN" altLang="en-US" sz="900" dirty="0"/>
            </a:p>
          </p:txBody>
        </p:sp>
        <p:sp>
          <p:nvSpPr>
            <p:cNvPr id="16" name="乘号 15"/>
            <p:cNvSpPr/>
            <p:nvPr/>
          </p:nvSpPr>
          <p:spPr>
            <a:xfrm>
              <a:off x="2508964" y="4101250"/>
              <a:ext cx="288485" cy="302046"/>
            </a:xfrm>
            <a:prstGeom prst="mathMultiply">
              <a:avLst>
                <a:gd name="adj1" fmla="val 1361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等于号 16"/>
            <p:cNvSpPr/>
            <p:nvPr/>
          </p:nvSpPr>
          <p:spPr>
            <a:xfrm>
              <a:off x="3714144" y="4041436"/>
              <a:ext cx="249818" cy="432186"/>
            </a:xfrm>
            <a:prstGeom prst="mathEqual">
              <a:avLst>
                <a:gd name="adj1" fmla="val 7304"/>
                <a:gd name="adj2" fmla="val 1176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加号 17"/>
            <p:cNvSpPr/>
            <p:nvPr/>
          </p:nvSpPr>
          <p:spPr>
            <a:xfrm>
              <a:off x="4789181" y="4155111"/>
              <a:ext cx="264290" cy="251130"/>
            </a:xfrm>
            <a:prstGeom prst="mathPlus">
              <a:avLst>
                <a:gd name="adj1" fmla="val 923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5140479" y="4203360"/>
              <a:ext cx="375161" cy="1083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5109760" y="3810604"/>
              <a:ext cx="40588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bias</a:t>
              </a:r>
              <a:endParaRPr lang="zh-CN" altLang="en-US" sz="9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/>
                <p:cNvSpPr txBox="1"/>
                <p:nvPr/>
              </p:nvSpPr>
              <p:spPr>
                <a:xfrm>
                  <a:off x="5935902" y="4078432"/>
                  <a:ext cx="74804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𝑓𝑐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2" name="文本框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5902" y="4078432"/>
                  <a:ext cx="748045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1626" r="-1626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等于号 24"/>
            <p:cNvSpPr/>
            <p:nvPr/>
          </p:nvSpPr>
          <p:spPr>
            <a:xfrm>
              <a:off x="5634757" y="4049581"/>
              <a:ext cx="249818" cy="432186"/>
            </a:xfrm>
            <a:prstGeom prst="mathEqual">
              <a:avLst>
                <a:gd name="adj1" fmla="val 7304"/>
                <a:gd name="adj2" fmla="val 1176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Rectangle 1"/>
          <p:cNvSpPr>
            <a:spLocks noChangeArrowheads="1"/>
          </p:cNvSpPr>
          <p:nvPr/>
        </p:nvSpPr>
        <p:spPr bwMode="auto">
          <a:xfrm>
            <a:off x="732370" y="1453337"/>
            <a:ext cx="10740640" cy="5232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fc1 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nn.Dense(in_channels, out_channels,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weight_init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'normal'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bias_init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'zeros'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has_bias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True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activation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None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endParaRPr kumimoji="0" lang="zh-CN" altLang="zh-CN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732369" y="4347842"/>
                <a:ext cx="10737445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=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𝑓𝑐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输入：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Tensor shape(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batch_size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in_channels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输出：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Tensor shape(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batch_size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out_channels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接受一个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维的张量作为输入，返回一个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维的张量作为输出，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维即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𝑏𝑎𝑡𝑐h𝑠𝑖𝑧𝑒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∗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𝑐h𝑎𝑛𝑛𝑒𝑙𝑠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369" y="4347842"/>
                <a:ext cx="10737445" cy="1200329"/>
              </a:xfrm>
              <a:prstGeom prst="rect">
                <a:avLst/>
              </a:prstGeom>
              <a:blipFill rotWithShape="0">
                <a:blip r:embed="rId4"/>
                <a:stretch>
                  <a:fillRect l="-454" t="-2538" b="-7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4567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网络定义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29175" y="1197865"/>
            <a:ext cx="6971919" cy="5047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class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LeNet5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(nn.Cell):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def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B200B2"/>
                </a:solidFill>
                <a:effectLst/>
                <a:latin typeface="Consolas" panose="020B0609020204030204" pitchFamily="49" charset="0"/>
                <a:ea typeface="JetBrains Mono"/>
              </a:rPr>
              <a:t>__init__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):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JetBrains Mono"/>
              </a:rPr>
              <a:t>super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(LeNet5,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).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B200B2"/>
                </a:solidFill>
                <a:effectLst/>
                <a:latin typeface="Consolas" panose="020B0609020204030204" pitchFamily="49" charset="0"/>
                <a:ea typeface="JetBrains Mono"/>
              </a:rPr>
              <a:t>__init__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.conv1 = nn.Conv2d(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6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5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stride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pad_mode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'valid'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.conv2 = nn.Conv2d(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6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16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5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stride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pad_mode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'valid'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.relu = nn.ReLU()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.pool = nn.MaxPool2d(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kernel_size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2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stride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2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.flatten = nn.Flatten()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.fc1 = nn.Dense(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400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120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.fc2 = nn.Dense(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120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84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.fc3 = nn.Dense(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84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10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def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construct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x):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x 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.relu(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.conv1(x))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x 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.pool(x)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x 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.relu(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.conv2(x))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x 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.pool(x)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x 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.flatten(x)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x 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.fc1(x)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x 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.fc2(x)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x 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.fc3(x)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return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x</a:t>
            </a:r>
            <a:endParaRPr kumimoji="0" lang="zh-CN" altLang="zh-CN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630" y="3978612"/>
            <a:ext cx="6961186" cy="2266789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5998128" y="2924137"/>
            <a:ext cx="5471688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网络定义必须继承基类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nn.Cell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ea"/>
              <a:buAutoNum type="circleNumDbPlain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init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__()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中的语句由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解析执行；</a:t>
            </a:r>
          </a:p>
          <a:p>
            <a:pPr marL="342900" indent="-342900">
              <a:buFont typeface="+mj-ea"/>
              <a:buAutoNum type="circleNumDbPlain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construct()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中的语句由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MindSpore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接管，有语法限制。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887365" y="118947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ea typeface="微软雅黑" panose="020B0503020204020204" pitchFamily="34" charset="-122"/>
              </a:rPr>
              <a:t>①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2" name="左大括号 1"/>
          <p:cNvSpPr/>
          <p:nvPr/>
        </p:nvSpPr>
        <p:spPr>
          <a:xfrm>
            <a:off x="868261" y="1510017"/>
            <a:ext cx="276412" cy="2088859"/>
          </a:xfrm>
          <a:prstGeom prst="leftBrac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左大括号 10"/>
          <p:cNvSpPr/>
          <p:nvPr/>
        </p:nvSpPr>
        <p:spPr>
          <a:xfrm>
            <a:off x="864491" y="3877709"/>
            <a:ext cx="276412" cy="1843583"/>
          </a:xfrm>
          <a:prstGeom prst="leftBrac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48993" y="236978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ea typeface="微软雅黑" panose="020B0503020204020204" pitchFamily="34" charset="-122"/>
              </a:rPr>
              <a:t>②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52763" y="461483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ea typeface="微软雅黑" panose="020B0503020204020204" pitchFamily="34" charset="-122"/>
              </a:rPr>
              <a:t>③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089740" y="1258017"/>
            <a:ext cx="712184" cy="252000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bg1">
                  <a:alpha val="28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536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损失函数（</a:t>
            </a:r>
            <a:r>
              <a:rPr lang="en-US" altLang="zh-CN" dirty="0"/>
              <a:t>Loss</a:t>
            </a:r>
            <a:r>
              <a:rPr lang="zh-CN" altLang="en-US" dirty="0"/>
              <a:t>）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29175" y="1484130"/>
            <a:ext cx="10730403" cy="3077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loss = nn.loss.SoftmaxCrossEntropyWithLogits(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is_grad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False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sparse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True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reduction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'mean'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endParaRPr kumimoji="0" lang="zh-CN" altLang="zh-CN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29175" y="4395483"/>
            <a:ext cx="1074064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损失函数用于描述模型预测值与真实值的误差，用于指导模型的更新方向。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参数解释：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sparse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：默认为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Label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数据做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one_hot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reduction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：支持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mean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4456538" y="1984954"/>
                <a:ext cx="3275675" cy="13498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dirty="0" err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altLang="zh-CN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zh-CN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altLang="zh-CN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zh-CN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CN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6538" y="1984954"/>
                <a:ext cx="3275675" cy="1349857"/>
              </a:xfrm>
              <a:prstGeom prst="rect">
                <a:avLst/>
              </a:prstGeom>
              <a:blipFill rotWithShape="0">
                <a:blip r:embed="rId2"/>
                <a:stretch>
                  <a:fillRect b="-1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729175" y="3556105"/>
                <a:ext cx="1074064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对于每个样本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3D Tensor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CHW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1D Tensor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是真实类别（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类中的一个），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1D Tensor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（含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个元素，分别表示属于相应类别相应的概率，值域为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[0, 1]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），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是标量。</a:t>
                </a: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175" y="3556105"/>
                <a:ext cx="10740640" cy="646331"/>
              </a:xfrm>
              <a:prstGeom prst="rect">
                <a:avLst/>
              </a:prstGeom>
              <a:blipFill rotWithShape="0">
                <a:blip r:embed="rId3"/>
                <a:stretch>
                  <a:fillRect l="-511" t="-4717" r="-511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3539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优化器（</a:t>
            </a:r>
            <a:r>
              <a:rPr lang="en-US" altLang="zh-CN" dirty="0"/>
              <a:t>Optimizer</a:t>
            </a:r>
            <a:r>
              <a:rPr lang="zh-CN" altLang="en-US" dirty="0"/>
              <a:t>）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2"/>
          </p:nvPr>
        </p:nvSpPr>
        <p:spPr>
          <a:xfrm>
            <a:off x="729175" y="1956546"/>
            <a:ext cx="10740640" cy="2128379"/>
          </a:xfrm>
        </p:spPr>
        <p:txBody>
          <a:bodyPr/>
          <a:lstStyle/>
          <a:p>
            <a:pPr marL="11113" indent="0">
              <a:buNone/>
            </a:pPr>
            <a:r>
              <a:rPr lang="zh-CN" altLang="en-US" dirty="0"/>
              <a:t>有了优化目标（</a:t>
            </a:r>
            <a:r>
              <a:rPr lang="en-US" altLang="zh-CN" dirty="0"/>
              <a:t>Loss</a:t>
            </a:r>
            <a:r>
              <a:rPr lang="zh-CN" altLang="en-US" dirty="0"/>
              <a:t>）之后，我们还需要定义优化的策略，即优化器。</a:t>
            </a:r>
            <a:endParaRPr lang="en-US" altLang="zh-CN" dirty="0"/>
          </a:p>
          <a:p>
            <a:pPr marL="11113" indent="0">
              <a:buNone/>
            </a:pPr>
            <a:r>
              <a:rPr lang="en-US" altLang="zh-CN" b="1" dirty="0"/>
              <a:t>Momentum</a:t>
            </a:r>
            <a:r>
              <a:rPr lang="zh-CN" altLang="en-US" dirty="0"/>
              <a:t>优化器的参数：</a:t>
            </a:r>
          </a:p>
          <a:p>
            <a:r>
              <a:rPr lang="en-US" altLang="zh-CN" sz="1400" b="1" dirty="0" err="1"/>
              <a:t>params</a:t>
            </a:r>
            <a:r>
              <a:rPr lang="en-US" altLang="zh-CN" sz="1400" dirty="0"/>
              <a:t> (Union[list[Parameter], list[</a:t>
            </a:r>
            <a:r>
              <a:rPr lang="en-US" altLang="zh-CN" sz="1400" dirty="0" err="1"/>
              <a:t>dict</a:t>
            </a:r>
            <a:r>
              <a:rPr lang="en-US" altLang="zh-CN" sz="1400" dirty="0"/>
              <a:t>]])</a:t>
            </a:r>
            <a:r>
              <a:rPr lang="zh-CN" altLang="en-US" sz="1400" dirty="0"/>
              <a:t>：待更新的参数。</a:t>
            </a:r>
          </a:p>
          <a:p>
            <a:r>
              <a:rPr lang="en-US" altLang="zh-CN" sz="1400" b="1" dirty="0" err="1"/>
              <a:t>learning_rate</a:t>
            </a:r>
            <a:r>
              <a:rPr lang="en-US" altLang="zh-CN" sz="1400" dirty="0"/>
              <a:t> (Union[float, Tensor, </a:t>
            </a:r>
            <a:r>
              <a:rPr lang="en-US" altLang="zh-CN" sz="1400" dirty="0" err="1"/>
              <a:t>Iterable</a:t>
            </a:r>
            <a:r>
              <a:rPr lang="en-US" altLang="zh-CN" sz="1400" dirty="0"/>
              <a:t>])</a:t>
            </a:r>
            <a:r>
              <a:rPr lang="zh-CN" altLang="en-US" sz="1400" dirty="0"/>
              <a:t>：学习率。当学习率为</a:t>
            </a:r>
            <a:r>
              <a:rPr lang="en-US" altLang="zh-CN" sz="1400" dirty="0" err="1"/>
              <a:t>Iterable</a:t>
            </a:r>
            <a:r>
              <a:rPr lang="zh-CN" altLang="en-US" sz="1400" dirty="0"/>
              <a:t>类型的</a:t>
            </a:r>
            <a:r>
              <a:rPr lang="en-US" altLang="zh-CN" sz="1400" dirty="0"/>
              <a:t>Tensor</a:t>
            </a:r>
            <a:r>
              <a:rPr lang="zh-CN" altLang="en-US" sz="1400" dirty="0"/>
              <a:t>或者</a:t>
            </a:r>
            <a:r>
              <a:rPr lang="en-US" altLang="zh-CN" sz="1400" dirty="0"/>
              <a:t>list</a:t>
            </a:r>
            <a:r>
              <a:rPr lang="zh-CN" altLang="en-US" sz="1400" dirty="0"/>
              <a:t>时，表示动态学习率，第</a:t>
            </a:r>
            <a:r>
              <a:rPr lang="en-US" altLang="zh-CN" sz="1400" dirty="0"/>
              <a:t>i</a:t>
            </a:r>
            <a:r>
              <a:rPr lang="zh-CN" altLang="en-US" sz="1400" dirty="0"/>
              <a:t>个元素为第</a:t>
            </a:r>
            <a:r>
              <a:rPr lang="en-US" altLang="zh-CN" sz="1400" dirty="0"/>
              <a:t>i</a:t>
            </a:r>
            <a:r>
              <a:rPr lang="zh-CN" altLang="en-US" sz="1400" dirty="0"/>
              <a:t>步的学习率。</a:t>
            </a:r>
          </a:p>
          <a:p>
            <a:r>
              <a:rPr lang="en-US" altLang="zh-CN" sz="1400" b="1" dirty="0"/>
              <a:t>momentum</a:t>
            </a:r>
            <a:r>
              <a:rPr lang="en-US" altLang="zh-CN" sz="1400" dirty="0"/>
              <a:t> (float)</a:t>
            </a:r>
            <a:r>
              <a:rPr lang="zh-CN" altLang="en-US" sz="1400" dirty="0"/>
              <a:t>：累加梯度的参数，大于或等于</a:t>
            </a:r>
            <a:r>
              <a:rPr lang="en-US" altLang="zh-CN" sz="1400" dirty="0"/>
              <a:t>0.0</a:t>
            </a:r>
            <a:r>
              <a:rPr lang="zh-CN" altLang="en-US" sz="1400" dirty="0"/>
              <a:t>，默认为</a:t>
            </a:r>
            <a:r>
              <a:rPr lang="en-US" altLang="zh-CN" sz="1400" dirty="0"/>
              <a:t>0.9</a:t>
            </a:r>
            <a:r>
              <a:rPr lang="zh-CN" altLang="en-US" sz="1400" dirty="0"/>
              <a:t>。</a:t>
            </a:r>
          </a:p>
          <a:p>
            <a:r>
              <a:rPr lang="en-US" altLang="zh-CN" sz="1400" b="1" dirty="0" err="1"/>
              <a:t>weight_decay</a:t>
            </a:r>
            <a:r>
              <a:rPr lang="en-US" altLang="zh-CN" sz="1400" dirty="0"/>
              <a:t> (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, float)</a:t>
            </a:r>
            <a:r>
              <a:rPr lang="zh-CN" altLang="en-US" sz="1400" dirty="0"/>
              <a:t>：</a:t>
            </a:r>
            <a:r>
              <a:rPr lang="en-US" altLang="zh-CN" sz="1400" dirty="0"/>
              <a:t>L2</a:t>
            </a:r>
            <a:r>
              <a:rPr lang="zh-CN" altLang="en-US" sz="1400" dirty="0"/>
              <a:t>惩罚系数，大于或等于</a:t>
            </a:r>
            <a:r>
              <a:rPr lang="en-US" altLang="zh-CN" sz="1400" dirty="0"/>
              <a:t>0.0</a:t>
            </a:r>
            <a:r>
              <a:rPr lang="zh-CN" altLang="en-US" sz="1400" dirty="0"/>
              <a:t>，默认为</a:t>
            </a:r>
            <a:r>
              <a:rPr lang="en-US" altLang="zh-CN" sz="1400" dirty="0"/>
              <a:t>0.0</a:t>
            </a:r>
            <a:r>
              <a:rPr lang="zh-CN" altLang="en-US" sz="1400" dirty="0"/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999205" y="4398700"/>
                <a:ext cx="2084417" cy="8508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>
                    <a:solidFill>
                      <a:prstClr val="black"/>
                    </a:solidFill>
                  </a:rPr>
                  <a:t>SGD with Momentum: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16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sSub>
                        <m:sSubPr>
                          <m:ctrlPr>
                            <a:rPr lang="en-US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6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sz="1600" i="1" dirty="0">
                  <a:solidFill>
                    <a:prstClr val="black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6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6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6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sSub>
                        <m:sSubPr>
                          <m:ctrlPr>
                            <a:rPr lang="en-US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205" y="4398700"/>
                <a:ext cx="2084417" cy="850810"/>
              </a:xfrm>
              <a:prstGeom prst="rect">
                <a:avLst/>
              </a:prstGeom>
              <a:blipFill rotWithShape="0">
                <a:blip r:embed="rId2"/>
                <a:stretch>
                  <a:fillRect l="-1462" t="-2158" b="-2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2" descr="这里写图片描述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5807" y="3597627"/>
            <a:ext cx="3711681" cy="2873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/>
        </p:nvSpPr>
        <p:spPr>
          <a:xfrm>
            <a:off x="726021" y="1455532"/>
            <a:ext cx="107437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nsolas" panose="020B0609020204030204" pitchFamily="49" charset="0"/>
              </a:rPr>
              <a:t>opt = </a:t>
            </a:r>
            <a:r>
              <a:rPr lang="en-US" altLang="zh-CN" sz="1400" dirty="0" err="1">
                <a:latin typeface="Consolas" panose="020B0609020204030204" pitchFamily="49" charset="0"/>
              </a:rPr>
              <a:t>nn.Momentum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net.trainable_params</a:t>
            </a:r>
            <a:r>
              <a:rPr lang="en-US" altLang="zh-CN" sz="1400" dirty="0">
                <a:latin typeface="Consolas" panose="020B0609020204030204" pitchFamily="49" charset="0"/>
              </a:rPr>
              <a:t>(), </a:t>
            </a:r>
            <a:r>
              <a:rPr lang="en-US" altLang="zh-CN" sz="1400" dirty="0" err="1">
                <a:latin typeface="Consolas" panose="020B0609020204030204" pitchFamily="49" charset="0"/>
              </a:rPr>
              <a:t>lr</a:t>
            </a:r>
            <a:r>
              <a:rPr lang="en-US" altLang="zh-CN" sz="1400" dirty="0">
                <a:latin typeface="Consolas" panose="020B0609020204030204" pitchFamily="49" charset="0"/>
              </a:rPr>
              <a:t>, momentum)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7594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10D792-4102-9E49-9911-6FCBEA89B2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33620" y="1843088"/>
            <a:ext cx="10122060" cy="4170534"/>
          </a:xfrm>
        </p:spPr>
        <p:txBody>
          <a:bodyPr/>
          <a:lstStyle/>
          <a:p>
            <a:r>
              <a:rPr lang="zh-CN" altLang="en-US" dirty="0"/>
              <a:t>编程概念</a:t>
            </a:r>
            <a:endParaRPr lang="en-US" altLang="zh-CN" dirty="0"/>
          </a:p>
          <a:p>
            <a:r>
              <a:rPr lang="zh-CN" altLang="en-US" dirty="0"/>
              <a:t>案例介绍</a:t>
            </a:r>
            <a:endParaRPr lang="en-US" altLang="zh-CN" dirty="0"/>
          </a:p>
          <a:p>
            <a:r>
              <a:rPr lang="zh-CN" altLang="en-US" dirty="0"/>
              <a:t>数据处理</a:t>
            </a:r>
            <a:endParaRPr lang="en-US" altLang="zh-CN" dirty="0"/>
          </a:p>
          <a:p>
            <a:r>
              <a:rPr lang="zh-CN" altLang="en-US" dirty="0">
                <a:solidFill>
                  <a:srgbClr val="000000"/>
                </a:solidFill>
              </a:rPr>
              <a:t>模型定义</a:t>
            </a:r>
            <a:endParaRPr lang="en-US" altLang="zh-CN" dirty="0">
              <a:solidFill>
                <a:srgbClr val="00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模型训练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模型推理</a:t>
            </a:r>
            <a:endParaRPr lang="en-US" altLang="zh-CN" dirty="0"/>
          </a:p>
          <a:p>
            <a:r>
              <a:rPr lang="zh-CN" altLang="en-US" dirty="0"/>
              <a:t>网络迁移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002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代码调试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r="12445"/>
          <a:stretch/>
        </p:blipFill>
        <p:spPr>
          <a:xfrm>
            <a:off x="7232566" y="1800734"/>
            <a:ext cx="4237249" cy="1970978"/>
          </a:xfrm>
          <a:prstGeom prst="rect">
            <a:avLst/>
          </a:prstGeom>
          <a:ln>
            <a:noFill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 r="6456"/>
          <a:stretch/>
        </p:blipFill>
        <p:spPr>
          <a:xfrm>
            <a:off x="729176" y="1800734"/>
            <a:ext cx="6309188" cy="1970978"/>
          </a:xfrm>
          <a:prstGeom prst="rect">
            <a:avLst/>
          </a:prstGeom>
          <a:ln>
            <a:noFill/>
          </a:ln>
        </p:spPr>
      </p:pic>
      <p:sp>
        <p:nvSpPr>
          <p:cNvPr id="8" name="矩形 7"/>
          <p:cNvSpPr/>
          <p:nvPr/>
        </p:nvSpPr>
        <p:spPr>
          <a:xfrm>
            <a:off x="729175" y="1382609"/>
            <a:ext cx="107406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0" dirty="0" err="1">
                <a:solidFill>
                  <a:srgbClr val="000000"/>
                </a:solidFill>
                <a:latin typeface="微软雅黑" pitchFamily="34" charset="-122"/>
                <a:ea typeface="微软雅黑" panose="020B0503020204020204" pitchFamily="34" charset="-122"/>
              </a:rPr>
              <a:t>MindSpore</a:t>
            </a:r>
            <a:r>
              <a:rPr lang="zh-CN" altLang="en-US" kern="0" dirty="0">
                <a:solidFill>
                  <a:srgbClr val="000000"/>
                </a:solidFill>
                <a:latin typeface="微软雅黑" pitchFamily="34" charset="-122"/>
                <a:ea typeface="微软雅黑" panose="020B0503020204020204" pitchFamily="34" charset="-122"/>
              </a:rPr>
              <a:t>支持</a:t>
            </a:r>
            <a:r>
              <a:rPr lang="en-US" altLang="zh-CN" kern="0" dirty="0">
                <a:solidFill>
                  <a:srgbClr val="000000"/>
                </a:solidFill>
                <a:latin typeface="微软雅黑" pitchFamily="34" charset="-122"/>
                <a:ea typeface="微软雅黑" panose="020B0503020204020204" pitchFamily="34" charset="-122"/>
              </a:rPr>
              <a:t>Graph</a:t>
            </a:r>
            <a:r>
              <a:rPr lang="zh-CN" altLang="en-US" kern="0" dirty="0">
                <a:solidFill>
                  <a:srgbClr val="000000"/>
                </a:solidFill>
                <a:latin typeface="微软雅黑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kern="0" dirty="0" err="1">
                <a:solidFill>
                  <a:srgbClr val="000000"/>
                </a:solidFill>
                <a:latin typeface="微软雅黑" pitchFamily="34" charset="-122"/>
                <a:ea typeface="微软雅黑" panose="020B0503020204020204" pitchFamily="34" charset="-122"/>
              </a:rPr>
              <a:t>PyNative</a:t>
            </a:r>
            <a:r>
              <a:rPr lang="en-US" altLang="zh-CN" kern="0" dirty="0">
                <a:solidFill>
                  <a:srgbClr val="000000"/>
                </a:solidFill>
                <a:latin typeface="微软雅黑" pitchFamily="34" charset="-122"/>
                <a:ea typeface="微软雅黑" panose="020B0503020204020204" pitchFamily="34" charset="-122"/>
              </a:rPr>
              <a:t> 2</a:t>
            </a:r>
            <a:r>
              <a:rPr lang="zh-CN" altLang="en-US" kern="0" dirty="0">
                <a:solidFill>
                  <a:srgbClr val="000000"/>
                </a:solidFill>
                <a:latin typeface="微软雅黑" pitchFamily="34" charset="-122"/>
                <a:ea typeface="微软雅黑" panose="020B0503020204020204" pitchFamily="34" charset="-122"/>
              </a:rPr>
              <a:t>种运行模式，</a:t>
            </a:r>
            <a:r>
              <a:rPr lang="en-US" altLang="zh-CN" b="1" kern="0" dirty="0" err="1">
                <a:solidFill>
                  <a:srgbClr val="000000"/>
                </a:solidFill>
                <a:latin typeface="微软雅黑" pitchFamily="34" charset="-122"/>
                <a:ea typeface="微软雅黑" panose="020B0503020204020204" pitchFamily="34" charset="-122"/>
              </a:rPr>
              <a:t>PyNative</a:t>
            </a:r>
            <a:r>
              <a:rPr lang="zh-CN" altLang="en-US" kern="0" dirty="0">
                <a:solidFill>
                  <a:srgbClr val="000000"/>
                </a:solidFill>
                <a:latin typeface="微软雅黑" pitchFamily="34" charset="-122"/>
                <a:ea typeface="微软雅黑" panose="020B0503020204020204" pitchFamily="34" charset="-122"/>
              </a:rPr>
              <a:t>模式易调试，支持</a:t>
            </a:r>
            <a:r>
              <a:rPr lang="en-US" altLang="zh-CN" kern="0" dirty="0">
                <a:solidFill>
                  <a:srgbClr val="000000"/>
                </a:solidFill>
                <a:latin typeface="微软雅黑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kern="0" dirty="0">
                <a:solidFill>
                  <a:srgbClr val="000000"/>
                </a:solidFill>
                <a:latin typeface="微软雅黑" pitchFamily="34" charset="-122"/>
                <a:ea typeface="微软雅黑" panose="020B0503020204020204" pitchFamily="34" charset="-122"/>
              </a:rPr>
              <a:t>原生调试方式。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602010" y="2227222"/>
            <a:ext cx="1934724" cy="430887"/>
          </a:xfrm>
          <a:prstGeom prst="rect">
            <a:avLst/>
          </a:prstGeom>
          <a:solidFill>
            <a:srgbClr val="56C4D2"/>
          </a:solidFill>
        </p:spPr>
        <p:txBody>
          <a:bodyPr wrap="square" rtlCol="0" anchor="ctr">
            <a:spAutoFit/>
          </a:bodyPr>
          <a:lstStyle/>
          <a:p>
            <a:pPr defTabSz="1219200"/>
            <a:r>
              <a:rPr lang="zh-CN" altLang="en-US" sz="11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</a:t>
            </a:r>
            <a:r>
              <a:rPr lang="en-US" altLang="zh-CN" sz="11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1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原生的调试方式，如设置断点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9125024" y="2364803"/>
            <a:ext cx="1776045" cy="430887"/>
          </a:xfrm>
          <a:prstGeom prst="rect">
            <a:avLst/>
          </a:prstGeom>
          <a:solidFill>
            <a:srgbClr val="56C4D2"/>
          </a:solidFill>
        </p:spPr>
        <p:txBody>
          <a:bodyPr wrap="square" rtlCol="0" anchor="ctr">
            <a:spAutoFit/>
          </a:bodyPr>
          <a:lstStyle/>
          <a:p>
            <a:pPr defTabSz="1219200"/>
            <a:r>
              <a:rPr lang="zh-CN" altLang="en-US" sz="11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可以方便查看中间变量值，如参数、权重、激活值等</a:t>
            </a: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027E4FE0-1AC5-42B0-B719-29041C99E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3782" y="4731761"/>
            <a:ext cx="3996033" cy="1055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/>
            <a:r>
              <a:rPr lang="en-US" altLang="zh-CN" sz="1400" dirty="0" err="1">
                <a:solidFill>
                  <a:srgbClr val="94558D"/>
                </a:solidFill>
                <a:latin typeface="Consolas" panose="020B0609020204030204" pitchFamily="49" charset="0"/>
                <a:ea typeface="JetBrains Mono"/>
              </a:rPr>
              <a:t>self</a:t>
            </a:r>
            <a:r>
              <a:rPr lang="en-US" altLang="zh-CN" sz="1400" dirty="0" err="1">
                <a:solidFill>
                  <a:srgbClr val="007020"/>
                </a:solidFill>
                <a:latin typeface="Consolas" panose="020B0609020204030204" pitchFamily="49" charset="0"/>
                <a:ea typeface="SFMono-Regular"/>
              </a:rPr>
              <a:t>.</a:t>
            </a:r>
            <a:r>
              <a:rPr lang="en-US" altLang="zh-CN" sz="1400" dirty="0" err="1">
                <a:latin typeface="Consolas" panose="020B0609020204030204" pitchFamily="49" charset="0"/>
                <a:ea typeface="SFMono-Regular"/>
              </a:rPr>
              <a:t>print</a:t>
            </a:r>
            <a:r>
              <a:rPr lang="en-US" altLang="zh-CN" sz="1400" dirty="0">
                <a:latin typeface="Consolas" panose="020B0609020204030204" pitchFamily="49" charset="0"/>
                <a:ea typeface="SFMono-Regular"/>
              </a:rPr>
              <a:t> = </a:t>
            </a:r>
            <a:r>
              <a:rPr lang="en-US" altLang="zh-CN" sz="1400" dirty="0" err="1">
                <a:latin typeface="Consolas" panose="020B0609020204030204" pitchFamily="49" charset="0"/>
                <a:ea typeface="SFMono-Regular"/>
              </a:rPr>
              <a:t>P.Print</a:t>
            </a:r>
            <a:r>
              <a:rPr lang="en-US" altLang="zh-CN" sz="1400" dirty="0">
                <a:latin typeface="Consolas" panose="020B0609020204030204" pitchFamily="49" charset="0"/>
                <a:ea typeface="SFMono-Regular"/>
              </a:rPr>
              <a:t>()</a:t>
            </a:r>
          </a:p>
          <a:p>
            <a:pPr defTabSz="914400"/>
            <a:r>
              <a:rPr lang="zh-CN" altLang="zh-CN" sz="1400" dirty="0">
                <a:solidFill>
                  <a:srgbClr val="94558D"/>
                </a:solidFill>
                <a:latin typeface="Consolas" panose="020B0609020204030204" pitchFamily="49" charset="0"/>
                <a:ea typeface="JetBrains Mono"/>
              </a:rPr>
              <a:t>self</a:t>
            </a:r>
            <a:r>
              <a:rPr lang="zh-CN" altLang="zh-CN" sz="1400" dirty="0">
                <a:solidFill>
                  <a:srgbClr val="666666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400" dirty="0">
                <a:latin typeface="Consolas" panose="020B0609020204030204" pitchFamily="49" charset="0"/>
              </a:rPr>
              <a:t>print</a:t>
            </a:r>
            <a:r>
              <a:rPr lang="zh-CN" altLang="zh-CN" sz="1400" dirty="0">
                <a:solidFill>
                  <a:srgbClr val="1A1C33"/>
                </a:solidFill>
                <a:latin typeface="Consolas" panose="020B0609020204030204" pitchFamily="49" charset="0"/>
                <a:ea typeface="SFMono-Regular"/>
              </a:rPr>
              <a:t>(</a:t>
            </a:r>
            <a:r>
              <a:rPr lang="zh-CN" altLang="zh-CN" sz="1400" dirty="0">
                <a:latin typeface="Consolas" panose="020B0609020204030204" pitchFamily="49" charset="0"/>
              </a:rPr>
              <a:t>x</a:t>
            </a:r>
            <a:r>
              <a:rPr lang="zh-CN" altLang="zh-CN" sz="1400" dirty="0">
                <a:solidFill>
                  <a:srgbClr val="1A1C33"/>
                </a:solidFill>
                <a:latin typeface="Consolas" panose="020B0609020204030204" pitchFamily="49" charset="0"/>
                <a:ea typeface="SFMono-Regular"/>
              </a:rPr>
              <a:t>)</a:t>
            </a:r>
            <a:r>
              <a:rPr lang="zh-CN" altLang="zh-CN" sz="1400" dirty="0">
                <a:latin typeface="Consolas" panose="020B0609020204030204" pitchFamily="49" charset="0"/>
              </a:rPr>
              <a:t> 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Tensor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A1C33"/>
                </a:solidFill>
                <a:effectLst/>
                <a:latin typeface="Consolas" panose="020B0609020204030204" pitchFamily="49" charset="0"/>
                <a:ea typeface="SFMono-Regular"/>
              </a:rPr>
              <a:t>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A1C33"/>
                </a:solidFill>
                <a:effectLst/>
                <a:latin typeface="Consolas" panose="020B0609020204030204" pitchFamily="49" charset="0"/>
                <a:ea typeface="SFMono-Regular"/>
              </a:rPr>
              <a:t>:[[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A1C33"/>
                </a:solidFill>
                <a:effectLst/>
                <a:latin typeface="Consolas" panose="020B0609020204030204" pitchFamily="49" charset="0"/>
                <a:ea typeface="SFMono-Regular"/>
              </a:rPr>
              <a:t>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A1C33"/>
                </a:solidFill>
                <a:effectLst/>
                <a:latin typeface="Consolas" panose="020B0609020204030204" pitchFamily="49" charset="0"/>
                <a:ea typeface="SFMono-Regular"/>
              </a:rPr>
              <a:t>][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08050"/>
                </a:solidFill>
                <a:effectLst/>
                <a:latin typeface="Consolas" panose="020B0609020204030204" pitchFamily="49" charset="0"/>
                <a:ea typeface="SFMono-Regular"/>
              </a:rPr>
              <a:t>2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A1C33"/>
                </a:solidFill>
                <a:effectLst/>
                <a:latin typeface="Consolas" panose="020B0609020204030204" pitchFamily="49" charset="0"/>
                <a:ea typeface="SFMono-Regular"/>
              </a:rPr>
              <a:t>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08050"/>
                </a:solidFill>
                <a:effectLst/>
                <a:latin typeface="Consolas" panose="020B0609020204030204" pitchFamily="49" charset="0"/>
                <a:ea typeface="SFMono-Regular"/>
              </a:rPr>
              <a:t>1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A1C33"/>
                </a:solidFill>
                <a:effectLst/>
                <a:latin typeface="Consolas" panose="020B0609020204030204" pitchFamily="49" charset="0"/>
                <a:ea typeface="SFMono-Regular"/>
              </a:rPr>
              <a:t>]]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Int32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A1C33"/>
                </a:solidFill>
                <a:effectLst/>
                <a:latin typeface="Consolas" panose="020B0609020204030204" pitchFamily="49" charset="0"/>
                <a:ea typeface="SFMono-Regular"/>
              </a:rPr>
              <a:t>:[[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08050"/>
                </a:solidFill>
                <a:effectLst/>
                <a:latin typeface="Consolas" panose="020B0609020204030204" pitchFamily="49" charset="0"/>
                <a:ea typeface="SFMono-Regular"/>
              </a:rPr>
              <a:t>1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A1C33"/>
                </a:solidFill>
                <a:effectLst/>
                <a:latin typeface="Consolas" panose="020B0609020204030204" pitchFamily="49" charset="0"/>
                <a:ea typeface="SFMono-Regular"/>
              </a:rPr>
              <a:t>] [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08050"/>
                </a:solidFill>
                <a:effectLst/>
                <a:latin typeface="Consolas" panose="020B0609020204030204" pitchFamily="49" charset="0"/>
                <a:ea typeface="SFMono-Regular"/>
              </a:rPr>
              <a:t>1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A1C33"/>
                </a:solidFill>
                <a:effectLst/>
                <a:latin typeface="Consolas" panose="020B0609020204030204" pitchFamily="49" charset="0"/>
                <a:ea typeface="SFMono-Regular"/>
              </a:rPr>
              <a:t>]]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BAE57AA-D82E-4CBA-86F4-E8E3CAB8F390}"/>
              </a:ext>
            </a:extLst>
          </p:cNvPr>
          <p:cNvSpPr/>
          <p:nvPr/>
        </p:nvSpPr>
        <p:spPr>
          <a:xfrm>
            <a:off x="7456472" y="4060690"/>
            <a:ext cx="40133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Graph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模式性能高，可调用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Tensor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或字符串。</a:t>
            </a: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729176" y="4060690"/>
            <a:ext cx="6309189" cy="2308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def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construct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x):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x 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.relu(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.conv1(x))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x 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.pool(x)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JetBrains Mono"/>
              </a:rPr>
              <a:t>print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(x.shape)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x 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.relu(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.conv2(x))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x 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.pool(x)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x 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.flatten(x)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x 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.fc1(x)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x 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.fc2(x)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x 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.fc3(x)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return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x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1122989" y="4666755"/>
            <a:ext cx="1251095" cy="234892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3602010" y="4568758"/>
            <a:ext cx="1934724" cy="430887"/>
          </a:xfrm>
          <a:prstGeom prst="rect">
            <a:avLst/>
          </a:prstGeom>
          <a:solidFill>
            <a:srgbClr val="56C4D2"/>
          </a:solidFill>
        </p:spPr>
        <p:txBody>
          <a:bodyPr wrap="square" rtlCol="0" anchor="ctr">
            <a:spAutoFit/>
          </a:bodyPr>
          <a:lstStyle/>
          <a:p>
            <a:pPr defTabSz="1219200"/>
            <a:r>
              <a:rPr lang="zh-CN" altLang="en-US" sz="11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打印某层算子输出的</a:t>
            </a:r>
            <a:r>
              <a:rPr lang="en-US" altLang="zh-CN" sz="11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shape</a:t>
            </a:r>
            <a:r>
              <a:rPr lang="zh-CN" altLang="en-US" sz="11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，方便设置下一层算子的参数</a:t>
            </a:r>
          </a:p>
        </p:txBody>
      </p:sp>
    </p:spTree>
    <p:extLst>
      <p:ext uri="{BB962C8B-B14F-4D97-AF65-F5344CB8AC3E}">
        <p14:creationId xmlns:p14="http://schemas.microsoft.com/office/powerpoint/2010/main" val="8498904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模型调优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2"/>
          </p:nvPr>
        </p:nvSpPr>
        <p:spPr>
          <a:xfrm>
            <a:off x="726021" y="1512876"/>
            <a:ext cx="10743794" cy="1296648"/>
          </a:xfrm>
        </p:spPr>
        <p:txBody>
          <a:bodyPr/>
          <a:lstStyle/>
          <a:p>
            <a:r>
              <a:rPr lang="en-US" altLang="zh-CN" b="1" dirty="0" err="1"/>
              <a:t>mindspore.train.callback</a:t>
            </a:r>
            <a:r>
              <a:rPr lang="zh-CN" altLang="en-US" dirty="0"/>
              <a:t>可用于训练</a:t>
            </a:r>
            <a:r>
              <a:rPr lang="en-US" altLang="zh-CN" dirty="0"/>
              <a:t>/</a:t>
            </a:r>
            <a:r>
              <a:rPr lang="zh-CN" altLang="en-US" dirty="0"/>
              <a:t>验证过程中执行特定的任务。常用的</a:t>
            </a:r>
            <a:r>
              <a:rPr lang="en-US" altLang="zh-CN" dirty="0"/>
              <a:t>Callback</a:t>
            </a:r>
            <a:r>
              <a:rPr lang="zh-CN" altLang="en-US" dirty="0"/>
              <a:t>如下：</a:t>
            </a:r>
          </a:p>
          <a:p>
            <a:pPr lvl="1"/>
            <a:r>
              <a:rPr lang="en-US" altLang="zh-CN" b="1" dirty="0" err="1"/>
              <a:t>LossMonitor</a:t>
            </a:r>
            <a:r>
              <a:rPr lang="zh-CN" altLang="en-US" dirty="0"/>
              <a:t>：监控</a:t>
            </a:r>
            <a:r>
              <a:rPr lang="en-US" altLang="zh-CN" dirty="0"/>
              <a:t>loss</a:t>
            </a:r>
            <a:r>
              <a:rPr lang="zh-CN" altLang="en-US" dirty="0"/>
              <a:t>值，当</a:t>
            </a:r>
            <a:r>
              <a:rPr lang="en-US" altLang="zh-CN" dirty="0"/>
              <a:t>loss</a:t>
            </a:r>
            <a:r>
              <a:rPr lang="zh-CN" altLang="en-US" dirty="0"/>
              <a:t>值为</a:t>
            </a:r>
            <a:r>
              <a:rPr lang="en-US" altLang="zh-CN" dirty="0"/>
              <a:t>Nan</a:t>
            </a:r>
            <a:r>
              <a:rPr lang="zh-CN" altLang="en-US" dirty="0"/>
              <a:t>或</a:t>
            </a:r>
            <a:r>
              <a:rPr lang="en-US" altLang="zh-CN" dirty="0" err="1"/>
              <a:t>Inf</a:t>
            </a:r>
            <a:r>
              <a:rPr lang="zh-CN" altLang="en-US" dirty="0"/>
              <a:t>时停止训练；</a:t>
            </a:r>
          </a:p>
          <a:p>
            <a:pPr lvl="1"/>
            <a:r>
              <a:rPr lang="en-US" altLang="zh-CN" b="1" dirty="0" err="1"/>
              <a:t>SummaryStep</a:t>
            </a:r>
            <a:r>
              <a:rPr lang="zh-CN" altLang="en-US" dirty="0"/>
              <a:t>：把训练过程中的信息存储到文件中，用于后续查看或可视化展示；</a:t>
            </a:r>
          </a:p>
          <a:p>
            <a:pPr lvl="1"/>
            <a:r>
              <a:rPr lang="en-US" altLang="zh-CN" b="1" dirty="0" err="1"/>
              <a:t>ModelCheckpoint</a:t>
            </a:r>
            <a:r>
              <a:rPr lang="zh-CN" altLang="en-US" dirty="0"/>
              <a:t>：保存模型文件和参数，用于再训练或推理。</a:t>
            </a:r>
          </a:p>
          <a:p>
            <a:endParaRPr lang="en-US" altLang="zh-CN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729175" y="2834468"/>
            <a:ext cx="10740640" cy="7386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loss_cb = LossMonitor(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per_print_times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=ds_train.get_dataset_size())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i="1" dirty="0">
                <a:solidFill>
                  <a:srgbClr val="888888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i="1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打印</a:t>
            </a:r>
            <a:endParaRPr lang="en-US" altLang="zh-CN" sz="1400" i="1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888888"/>
                </a:solidFill>
                <a:latin typeface="Consolas" panose="020B0609020204030204" pitchFamily="49" charset="0"/>
              </a:rPr>
              <a:t>epoch: 2 step 1875, loss is 0.4737345278263092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rgbClr val="888888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29175" y="3918513"/>
            <a:ext cx="1072725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lvl="0" indent="-168275" defTabSz="1187798"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1208088" algn="ctr"/>
              </a:tabLst>
            </a:pPr>
            <a:r>
              <a:rPr lang="en-US" altLang="zh-CN" b="1" dirty="0" err="1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mindspore.nn</a:t>
            </a:r>
            <a:r>
              <a:rPr lang="zh-CN" altLang="en-US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提供了多种</a:t>
            </a:r>
            <a:r>
              <a:rPr lang="en-US" altLang="zh-CN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Metric</a:t>
            </a:r>
            <a:r>
              <a:rPr lang="zh-CN" altLang="en-US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评估指标，如</a:t>
            </a:r>
            <a:r>
              <a:rPr lang="en-US" altLang="zh-CN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accuracy</a:t>
            </a:r>
            <a:r>
              <a:rPr lang="zh-CN" altLang="en-US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loss</a:t>
            </a:r>
            <a:r>
              <a:rPr lang="zh-CN" altLang="en-US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precision</a:t>
            </a:r>
            <a:r>
              <a:rPr lang="zh-CN" altLang="en-US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recall</a:t>
            </a:r>
            <a:r>
              <a:rPr lang="zh-CN" altLang="en-US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F1</a:t>
            </a:r>
            <a:r>
              <a:rPr lang="zh-CN" altLang="en-US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。</a:t>
            </a:r>
            <a:endParaRPr lang="en-US" altLang="zh-CN" dirty="0">
              <a:solidFill>
                <a:srgbClr val="1D1D1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329026" lvl="1" indent="-168275" defTabSz="1187798">
              <a:spcAft>
                <a:spcPts val="600"/>
              </a:spcAft>
              <a:buClr>
                <a:srgbClr val="1D1D1A"/>
              </a:buClr>
              <a:buFont typeface=".AppleSystemUIFont"/>
              <a:buChar char="&gt;"/>
              <a:tabLst>
                <a:tab pos="1208088" algn="ctr"/>
              </a:tabLst>
            </a:pPr>
            <a:r>
              <a:rPr lang="zh-CN" altLang="en-US" sz="16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定义一个</a:t>
            </a:r>
            <a:r>
              <a:rPr lang="en-US" altLang="zh-CN" sz="16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metrics</a:t>
            </a:r>
            <a:r>
              <a:rPr lang="zh-CN" altLang="en-US" sz="16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字典</a:t>
            </a:r>
            <a:r>
              <a:rPr lang="en-US" altLang="zh-CN" sz="16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6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元组，里面包含多种指标，传递给</a:t>
            </a:r>
            <a:r>
              <a:rPr lang="en-US" altLang="zh-CN" sz="1600" b="1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Model</a:t>
            </a:r>
            <a:r>
              <a:rPr lang="zh-CN" altLang="en-US" sz="16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endParaRPr lang="en-US" altLang="zh-CN" sz="1600" dirty="0">
              <a:solidFill>
                <a:srgbClr val="1D1D1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29026" lvl="1" indent="-168275" defTabSz="1187798">
              <a:spcAft>
                <a:spcPts val="600"/>
              </a:spcAft>
              <a:buClr>
                <a:srgbClr val="1D1D1A"/>
              </a:buClr>
              <a:buFont typeface=".AppleSystemUIFont"/>
              <a:buChar char="&gt;"/>
              <a:tabLst>
                <a:tab pos="1208088" algn="ctr"/>
              </a:tabLst>
            </a:pPr>
            <a:r>
              <a:rPr lang="zh-CN" altLang="en-US" sz="16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然后调用</a:t>
            </a:r>
            <a:r>
              <a:rPr lang="en-US" altLang="zh-CN" sz="1600" b="1" dirty="0" err="1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model.eval</a:t>
            </a:r>
            <a:r>
              <a:rPr lang="zh-CN" altLang="en-US" sz="16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接口来计算这些指标；</a:t>
            </a:r>
            <a:endParaRPr lang="en-US" altLang="zh-CN" sz="1600" dirty="0">
              <a:solidFill>
                <a:srgbClr val="1D1D1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29026" lvl="1" indent="-168275" defTabSz="1187798">
              <a:spcAft>
                <a:spcPts val="600"/>
              </a:spcAft>
              <a:buClr>
                <a:srgbClr val="1D1D1A"/>
              </a:buClr>
              <a:buFont typeface=".AppleSystemUIFont"/>
              <a:buChar char="&gt;"/>
              <a:tabLst>
                <a:tab pos="1208088" algn="ctr"/>
              </a:tabLst>
            </a:pPr>
            <a:r>
              <a:rPr lang="en-US" altLang="zh-CN" sz="1600" b="1" dirty="0" err="1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model.eval</a:t>
            </a:r>
            <a:r>
              <a:rPr lang="zh-CN" altLang="en-US" sz="16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会返回一个字典，包含各个指标及其对应的值。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729175" y="5294285"/>
            <a:ext cx="10738574" cy="954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metrics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={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'acc'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'loss'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model = Model(net, loss, opt, </a:t>
            </a:r>
            <a:r>
              <a:rPr lang="zh-CN" altLang="zh-CN" sz="1400" dirty="0">
                <a:solidFill>
                  <a:srgbClr val="660099"/>
                </a:solidFill>
                <a:latin typeface="Consolas" panose="020B0609020204030204" pitchFamily="49" charset="0"/>
                <a:ea typeface="JetBrains Mono"/>
              </a:rPr>
              <a:t>metrics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={</a:t>
            </a:r>
            <a:r>
              <a:rPr lang="zh-CN" altLang="zh-CN" sz="1400" b="1" dirty="0">
                <a:solidFill>
                  <a:srgbClr val="008080"/>
                </a:solidFill>
                <a:latin typeface="Consolas" panose="020B0609020204030204" pitchFamily="49" charset="0"/>
                <a:ea typeface="JetBrains Mono"/>
              </a:rPr>
              <a:t>'acc'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400" b="1" dirty="0">
                <a:solidFill>
                  <a:srgbClr val="008080"/>
                </a:solidFill>
                <a:latin typeface="Consolas" panose="020B0609020204030204" pitchFamily="49" charset="0"/>
                <a:ea typeface="JetBrains Mono"/>
              </a:rPr>
              <a:t>'loss'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})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i="1" dirty="0">
                <a:solidFill>
                  <a:srgbClr val="888888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i="1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</a:t>
            </a:r>
            <a:endParaRPr lang="en-US" altLang="zh-CN" sz="1400" i="1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888888"/>
                </a:solidFill>
                <a:latin typeface="Consolas" panose="020B0609020204030204" pitchFamily="49" charset="0"/>
              </a:rPr>
              <a:t>{'loss': 0.10531254443608654, '</a:t>
            </a:r>
            <a:r>
              <a:rPr lang="en-US" altLang="zh-CN" sz="1400" dirty="0" err="1">
                <a:solidFill>
                  <a:srgbClr val="888888"/>
                </a:solidFill>
                <a:latin typeface="Consolas" panose="020B0609020204030204" pitchFamily="49" charset="0"/>
              </a:rPr>
              <a:t>acc</a:t>
            </a:r>
            <a:r>
              <a:rPr lang="en-US" altLang="zh-CN" sz="1400" dirty="0">
                <a:solidFill>
                  <a:srgbClr val="888888"/>
                </a:solidFill>
                <a:latin typeface="Consolas" panose="020B0609020204030204" pitchFamily="49" charset="0"/>
              </a:rPr>
              <a:t>': 0.9701522435897436}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rgbClr val="888888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7033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模型训练和验证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2"/>
          </p:nvPr>
        </p:nvSpPr>
        <p:spPr>
          <a:xfrm>
            <a:off x="726021" y="1512876"/>
            <a:ext cx="10733557" cy="1255492"/>
          </a:xfrm>
        </p:spPr>
        <p:txBody>
          <a:bodyPr/>
          <a:lstStyle/>
          <a:p>
            <a:r>
              <a:rPr lang="en-US" altLang="zh-CN" b="1" dirty="0" err="1"/>
              <a:t>mindspore.train.Model</a:t>
            </a:r>
            <a:r>
              <a:rPr lang="zh-CN" altLang="en-US" dirty="0"/>
              <a:t>提供了高阶模型训练和验证接口。</a:t>
            </a:r>
            <a:endParaRPr lang="en-US" altLang="zh-CN" dirty="0"/>
          </a:p>
          <a:p>
            <a:pPr lvl="1"/>
            <a:r>
              <a:rPr lang="zh-CN" altLang="en-US" dirty="0"/>
              <a:t>传入</a:t>
            </a:r>
            <a:r>
              <a:rPr lang="en-US" altLang="zh-CN" dirty="0"/>
              <a:t>net</a:t>
            </a:r>
            <a:r>
              <a:rPr lang="zh-CN" altLang="en-US" dirty="0"/>
              <a:t>、</a:t>
            </a:r>
            <a:r>
              <a:rPr lang="en-US" altLang="zh-CN" dirty="0"/>
              <a:t>loss</a:t>
            </a:r>
            <a:r>
              <a:rPr lang="zh-CN" altLang="en-US" dirty="0"/>
              <a:t>和</a:t>
            </a:r>
            <a:r>
              <a:rPr lang="en-US" altLang="zh-CN" dirty="0"/>
              <a:t>opt</a:t>
            </a:r>
            <a:r>
              <a:rPr lang="zh-CN" altLang="en-US" dirty="0"/>
              <a:t>，并完成</a:t>
            </a:r>
            <a:r>
              <a:rPr lang="en-US" altLang="zh-CN" b="1" dirty="0"/>
              <a:t>Model</a:t>
            </a:r>
            <a:r>
              <a:rPr lang="zh-CN" altLang="en-US" dirty="0"/>
              <a:t>的初始化；</a:t>
            </a:r>
            <a:endParaRPr lang="en-US" altLang="zh-CN" dirty="0"/>
          </a:p>
          <a:p>
            <a:pPr lvl="1"/>
            <a:r>
              <a:rPr lang="zh-CN" altLang="en-US" dirty="0"/>
              <a:t>然后调用</a:t>
            </a:r>
            <a:r>
              <a:rPr lang="en-US" altLang="zh-CN" dirty="0"/>
              <a:t>train</a:t>
            </a:r>
            <a:r>
              <a:rPr lang="zh-CN" altLang="en-US" dirty="0"/>
              <a:t>接口，指定迭代次数（</a:t>
            </a:r>
            <a:r>
              <a:rPr lang="en-US" altLang="zh-CN" dirty="0" err="1"/>
              <a:t>num_epochs</a:t>
            </a:r>
            <a:r>
              <a:rPr lang="zh-CN" altLang="en-US" dirty="0"/>
              <a:t>）、数据集（</a:t>
            </a:r>
            <a:r>
              <a:rPr lang="en-US" altLang="zh-CN" dirty="0"/>
              <a:t>dataset</a:t>
            </a:r>
            <a:r>
              <a:rPr lang="zh-CN" altLang="en-US" dirty="0"/>
              <a:t>）、回调（</a:t>
            </a:r>
            <a:r>
              <a:rPr lang="en-US" altLang="zh-CN" dirty="0"/>
              <a:t>callback</a:t>
            </a:r>
            <a:r>
              <a:rPr lang="zh-CN" altLang="en-US" dirty="0"/>
              <a:t>）； </a:t>
            </a:r>
          </a:p>
          <a:p>
            <a:r>
              <a:rPr lang="zh-CN" altLang="en-US" dirty="0"/>
              <a:t>训练包含两层循环：外层为数据集的多代（</a:t>
            </a:r>
            <a:r>
              <a:rPr lang="en-US" altLang="zh-CN" dirty="0"/>
              <a:t>epoch</a:t>
            </a:r>
            <a:r>
              <a:rPr lang="zh-CN" altLang="en-US" dirty="0"/>
              <a:t>）循环，内层为</a:t>
            </a:r>
            <a:r>
              <a:rPr lang="en-US" altLang="zh-CN" dirty="0"/>
              <a:t>epoch</a:t>
            </a:r>
            <a:r>
              <a:rPr lang="zh-CN" altLang="en-US" dirty="0"/>
              <a:t>内多步（</a:t>
            </a:r>
            <a:r>
              <a:rPr lang="en-US" altLang="zh-CN" dirty="0"/>
              <a:t>batch/step</a:t>
            </a:r>
            <a:r>
              <a:rPr lang="zh-CN" altLang="en-US" dirty="0"/>
              <a:t>）的迭代。</a:t>
            </a:r>
          </a:p>
          <a:p>
            <a:endParaRPr lang="zh-CN" alt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29175" y="2842483"/>
            <a:ext cx="10740640" cy="31085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def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train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(data_dir, lr=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0.01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momentum=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0.9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num_epochs=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3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):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ds_train = create_dataset(data_dir)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ds_eval = create_dataset(data_dir,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training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False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net = LeNet5()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loss = nn.loss.SoftmaxCrossEntropyWithLogits(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is_grad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False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sparse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True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reduction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'mean'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opt = nn.Momentum(net.trainable_params(), lr, momentum)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loss_cb = LossMonitor(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per_print_times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=ds_train.get_dataset_size())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model = Model(net, loss, opt,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metrics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={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'acc'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'loss'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# dataset_sink_mode can be True when using Ascend</a:t>
            </a:r>
            <a:b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model.train(num_epochs, ds_train,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callbacks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=[loss_cb],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dataset_sink_mode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False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metrics = model.eval(ds_eval,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dataset_sink_mode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False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JetBrains Mono"/>
              </a:rPr>
              <a:t>print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'Metrics:'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metrics)</a:t>
            </a:r>
            <a:endParaRPr kumimoji="0" lang="zh-CN" altLang="zh-CN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1157680" y="3777295"/>
            <a:ext cx="8934275" cy="635313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1157680" y="4829479"/>
            <a:ext cx="5394121" cy="234892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1157680" y="5272806"/>
            <a:ext cx="7835317" cy="42331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88565" y="6036287"/>
            <a:ext cx="689131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LeNet5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完整代码示例：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https://gitee.com/mindspore/course/tree/master/lenet5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09276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模型保存和加载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2"/>
          </p:nvPr>
        </p:nvSpPr>
        <p:spPr>
          <a:xfrm>
            <a:off x="726021" y="1512876"/>
            <a:ext cx="10743795" cy="592930"/>
          </a:xfrm>
        </p:spPr>
        <p:txBody>
          <a:bodyPr/>
          <a:lstStyle/>
          <a:p>
            <a:r>
              <a:rPr lang="en-US" altLang="zh-CN" b="1" dirty="0" err="1"/>
              <a:t>ModelCheckpoint</a:t>
            </a:r>
            <a:r>
              <a:rPr lang="zh-CN" altLang="en-US" dirty="0"/>
              <a:t>会生成模型（</a:t>
            </a:r>
            <a:r>
              <a:rPr lang="en-US" altLang="zh-CN" dirty="0"/>
              <a:t>.meta</a:t>
            </a:r>
            <a:r>
              <a:rPr lang="zh-CN" altLang="en-US" dirty="0"/>
              <a:t>）和</a:t>
            </a:r>
            <a:r>
              <a:rPr lang="en-US" altLang="zh-CN" dirty="0" err="1"/>
              <a:t>Chekpoint</a:t>
            </a:r>
            <a:r>
              <a:rPr lang="zh-CN" altLang="en-US" dirty="0"/>
              <a:t>（</a:t>
            </a:r>
            <a:r>
              <a:rPr lang="en-US" altLang="zh-CN" dirty="0"/>
              <a:t>.</a:t>
            </a:r>
            <a:r>
              <a:rPr lang="en-US" altLang="zh-CN" dirty="0" err="1"/>
              <a:t>ckpt</a:t>
            </a:r>
            <a:r>
              <a:rPr lang="zh-CN" altLang="en-US" dirty="0"/>
              <a:t>）文件，如每个</a:t>
            </a:r>
            <a:r>
              <a:rPr lang="en-US" altLang="zh-CN" dirty="0"/>
              <a:t>epoch</a:t>
            </a:r>
            <a:r>
              <a:rPr lang="zh-CN" altLang="en-US" dirty="0"/>
              <a:t>结束时，都保存一次</a:t>
            </a:r>
            <a:r>
              <a:rPr lang="en-US" altLang="zh-CN" dirty="0"/>
              <a:t>checkpoint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29176" y="2146415"/>
            <a:ext cx="10740640" cy="16004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ckpt_cfg = CheckpointConfig(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save_checkpoint_steps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=steps_per_epoch,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keep_checkpoint_max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5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ea typeface="JetBrains Mono"/>
              </a:rPr>
              <a:t>ckpt_cb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ModelCheckpoint(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prefix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=ckpt_name,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directory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'ckpt'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config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=ckpt_cfg)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model.train(num_epochs, ds_train, </a:t>
            </a:r>
            <a:r>
              <a:rPr lang="zh-CN" altLang="zh-CN" sz="1400" dirty="0">
                <a:solidFill>
                  <a:srgbClr val="660099"/>
                </a:solidFill>
                <a:latin typeface="Consolas" panose="020B0609020204030204" pitchFamily="49" charset="0"/>
                <a:ea typeface="JetBrains Mono"/>
              </a:rPr>
              <a:t>callbacks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=[ckpt_cb, loss_cb], </a:t>
            </a:r>
            <a:r>
              <a:rPr lang="zh-CN" altLang="zh-CN" sz="1400" dirty="0">
                <a:solidFill>
                  <a:srgbClr val="660099"/>
                </a:solidFill>
                <a:latin typeface="Consolas" panose="020B0609020204030204" pitchFamily="49" charset="0"/>
                <a:ea typeface="JetBrains Mono"/>
              </a:rPr>
              <a:t>dataset_sink_mode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=dataset_sink)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i="1" dirty="0">
                <a:solidFill>
                  <a:srgbClr val="88888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# </a:t>
            </a:r>
            <a:r>
              <a:rPr lang="zh-CN" altLang="en-US" sz="1400" i="1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输出：</a:t>
            </a:r>
            <a:endParaRPr lang="en-US" altLang="zh-CN" sz="1400" i="1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</a:rPr>
              <a:t>lenet-1_1875.ckpt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</a:rPr>
              <a:t>lenet-2_1875.ckpt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lenet-graph.meta</a:t>
            </a:r>
            <a:endParaRPr lang="zh-CN" altLang="zh-CN" sz="14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729176" y="4555004"/>
            <a:ext cx="10740638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CKPT_1 = 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'ckpt/lenet-2_1875.ckpt‘</a:t>
            </a:r>
            <a:endParaRPr kumimoji="0" lang="en-US" altLang="zh-CN" sz="1400" b="1" i="0" u="none" strike="noStrike" cap="none" normalizeH="0" baseline="0" dirty="0">
              <a:ln>
                <a:noFill/>
              </a:ln>
              <a:solidFill>
                <a:srgbClr val="008080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i="1" u="none" strike="noStrike" cap="none" normalizeH="0" baseline="0" dirty="0">
                <a:ln>
                  <a:noFill/>
                </a:ln>
                <a:solidFill>
                  <a:srgbClr val="88888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# </a:t>
            </a:r>
            <a:r>
              <a:rPr kumimoji="0" lang="zh-CN" altLang="en-US" sz="1400" i="1" u="none" strike="noStrike" cap="none" normalizeH="0" baseline="0" dirty="0">
                <a:ln>
                  <a:noFill/>
                </a:ln>
                <a:solidFill>
                  <a:srgbClr val="888888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加载模型，返回参数字典</a:t>
            </a:r>
            <a:endParaRPr kumimoji="0" lang="en-US" altLang="zh-CN" sz="1400" i="1" u="none" strike="noStrike" cap="none" normalizeH="0" baseline="0" dirty="0">
              <a:ln>
                <a:noFill/>
              </a:ln>
              <a:solidFill>
                <a:srgbClr val="888888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 err="1">
                <a:latin typeface="Consolas" panose="020B0609020204030204" pitchFamily="49" charset="0"/>
              </a:rPr>
              <a:t>param_dict</a:t>
            </a:r>
            <a:r>
              <a:rPr lang="en-US" altLang="zh-CN" sz="1400" dirty="0">
                <a:latin typeface="Consolas" panose="020B0609020204030204" pitchFamily="49" charset="0"/>
              </a:rPr>
              <a:t> = </a:t>
            </a:r>
            <a:r>
              <a:rPr lang="en-US" altLang="zh-CN" sz="1400" dirty="0" err="1">
                <a:latin typeface="Consolas" panose="020B0609020204030204" pitchFamily="49" charset="0"/>
              </a:rPr>
              <a:t>load_checkpoint</a:t>
            </a:r>
            <a:r>
              <a:rPr lang="en-US" altLang="zh-CN" sz="1400" dirty="0">
                <a:latin typeface="Consolas" panose="020B0609020204030204" pitchFamily="49" charset="0"/>
              </a:rPr>
              <a:t>(CKPT_1)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i="1" dirty="0">
                <a:solidFill>
                  <a:srgbClr val="88888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# </a:t>
            </a:r>
            <a:r>
              <a:rPr lang="zh-CN" altLang="en-US" sz="1400" i="1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分别将参数加载到网络和优化器上</a:t>
            </a:r>
            <a:endParaRPr lang="en-US" altLang="zh-CN" sz="1400" i="1" dirty="0">
              <a:solidFill>
                <a:srgbClr val="88888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 err="1">
                <a:latin typeface="Consolas" panose="020B0609020204030204" pitchFamily="49" charset="0"/>
              </a:rPr>
              <a:t>load_param_into_net</a:t>
            </a:r>
            <a:r>
              <a:rPr lang="en-US" altLang="zh-CN" sz="1400" dirty="0">
                <a:latin typeface="Consolas" panose="020B0609020204030204" pitchFamily="49" charset="0"/>
              </a:rPr>
              <a:t>(net, </a:t>
            </a:r>
            <a:r>
              <a:rPr lang="en-US" altLang="zh-CN" sz="1400" dirty="0" err="1">
                <a:latin typeface="Consolas" panose="020B0609020204030204" pitchFamily="49" charset="0"/>
              </a:rPr>
              <a:t>param_dict</a:t>
            </a:r>
            <a:r>
              <a:rPr lang="en-US" altLang="zh-CN" sz="1400" dirty="0">
                <a:latin typeface="Consolas" panose="020B0609020204030204" pitchFamily="49" charset="0"/>
              </a:rPr>
              <a:t>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 err="1">
                <a:latin typeface="Consolas" panose="020B0609020204030204" pitchFamily="49" charset="0"/>
              </a:rPr>
              <a:t>load_param_into_net</a:t>
            </a:r>
            <a:r>
              <a:rPr lang="en-US" altLang="zh-CN" sz="1400" dirty="0">
                <a:latin typeface="Consolas" panose="020B0609020204030204" pitchFamily="49" charset="0"/>
              </a:rPr>
              <a:t>(opt, </a:t>
            </a:r>
            <a:r>
              <a:rPr lang="en-US" altLang="zh-CN" sz="1400" dirty="0" err="1">
                <a:latin typeface="Consolas" panose="020B0609020204030204" pitchFamily="49" charset="0"/>
              </a:rPr>
              <a:t>param_dict</a:t>
            </a:r>
            <a:r>
              <a:rPr lang="en-US" altLang="zh-CN" sz="1400" dirty="0">
                <a:latin typeface="Consolas" panose="020B0609020204030204" pitchFamily="49" charset="0"/>
              </a:rPr>
              <a:t>)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内容占位符 4"/>
          <p:cNvSpPr txBox="1">
            <a:spLocks/>
          </p:cNvSpPr>
          <p:nvPr/>
        </p:nvSpPr>
        <p:spPr>
          <a:xfrm>
            <a:off x="726020" y="3892857"/>
            <a:ext cx="10743795" cy="592930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525850" indent="-171159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20" algn="ctr"/>
              </a:tabLst>
              <a:defRPr sz="12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850" indent="-171159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20" algn="ctr"/>
              </a:tabLst>
              <a:defRPr sz="12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如果训练中断后想继续做训练，或者加载模型做微调（</a:t>
            </a:r>
            <a:r>
              <a:rPr lang="en-US" altLang="zh-CN" dirty="0"/>
              <a:t>Fine-tuning</a:t>
            </a:r>
            <a:r>
              <a:rPr lang="zh-CN" altLang="en-US" dirty="0"/>
              <a:t>）</a:t>
            </a:r>
            <a:r>
              <a:rPr lang="en-US" altLang="zh-CN" dirty="0"/>
              <a:t>, </a:t>
            </a:r>
            <a:r>
              <a:rPr lang="zh-CN" altLang="en-US" dirty="0"/>
              <a:t>先使用</a:t>
            </a:r>
            <a:r>
              <a:rPr lang="en-US" altLang="zh-CN" b="1" dirty="0" err="1"/>
              <a:t>mindspore.train.serialization</a:t>
            </a:r>
            <a:r>
              <a:rPr lang="zh-CN" altLang="en-US" dirty="0"/>
              <a:t>提供的</a:t>
            </a:r>
            <a:r>
              <a:rPr lang="en-US" altLang="zh-CN" b="1" dirty="0" err="1"/>
              <a:t>load_checkpoint</a:t>
            </a:r>
            <a:r>
              <a:rPr lang="zh-CN" altLang="en-US" dirty="0"/>
              <a:t>、</a:t>
            </a:r>
            <a:r>
              <a:rPr lang="en-US" altLang="zh-CN" b="1" dirty="0" err="1"/>
              <a:t>load_param_into_net</a:t>
            </a:r>
            <a:r>
              <a:rPr lang="zh-CN" altLang="en-US" dirty="0"/>
              <a:t>功能，再行训练。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788565" y="2204741"/>
            <a:ext cx="8808441" cy="428066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5234730" y="2632806"/>
            <a:ext cx="721453" cy="234892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788565" y="6036287"/>
            <a:ext cx="76607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Checkpoint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完整代码示例：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https://gitee.com/mindspore/course/tree/master/checkpoint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97499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10D792-4102-9E49-9911-6FCBEA89B2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33620" y="1843088"/>
            <a:ext cx="10122060" cy="4170534"/>
          </a:xfrm>
        </p:spPr>
        <p:txBody>
          <a:bodyPr/>
          <a:lstStyle/>
          <a:p>
            <a:r>
              <a:rPr lang="zh-CN" altLang="en-US" dirty="0"/>
              <a:t>编程概念</a:t>
            </a:r>
            <a:endParaRPr lang="en-US" altLang="zh-CN" dirty="0"/>
          </a:p>
          <a:p>
            <a:r>
              <a:rPr lang="zh-CN" altLang="en-US" dirty="0"/>
              <a:t>案例介绍</a:t>
            </a:r>
            <a:endParaRPr lang="en-US" altLang="zh-CN" dirty="0"/>
          </a:p>
          <a:p>
            <a:r>
              <a:rPr lang="zh-CN" altLang="en-US" dirty="0"/>
              <a:t>数据处理</a:t>
            </a:r>
            <a:endParaRPr lang="en-US" altLang="zh-CN" dirty="0"/>
          </a:p>
          <a:p>
            <a:r>
              <a:rPr lang="zh-CN" altLang="en-US" dirty="0">
                <a:solidFill>
                  <a:srgbClr val="000000"/>
                </a:solidFill>
              </a:rPr>
              <a:t>模型定义</a:t>
            </a:r>
            <a:endParaRPr lang="en-US" altLang="zh-CN" dirty="0">
              <a:solidFill>
                <a:srgbClr val="000000"/>
              </a:solidFill>
            </a:endParaRPr>
          </a:p>
          <a:p>
            <a:r>
              <a:rPr lang="zh-CN" altLang="en-US" dirty="0"/>
              <a:t>模型训练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模型推理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网络迁移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869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模型推理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2"/>
          </p:nvPr>
        </p:nvSpPr>
        <p:spPr>
          <a:xfrm>
            <a:off x="726021" y="1009536"/>
            <a:ext cx="10743795" cy="961878"/>
          </a:xfrm>
        </p:spPr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 err="1"/>
              <a:t>MindSpore</a:t>
            </a:r>
            <a:r>
              <a:rPr lang="zh-CN" altLang="en-US" dirty="0"/>
              <a:t>做推理</a:t>
            </a:r>
            <a:endParaRPr lang="en-US" altLang="zh-CN" dirty="0"/>
          </a:p>
          <a:p>
            <a:pPr lvl="1"/>
            <a:r>
              <a:rPr lang="zh-CN" altLang="en-US" dirty="0"/>
              <a:t>加载</a:t>
            </a:r>
            <a:r>
              <a:rPr lang="en-US" altLang="zh-CN" dirty="0"/>
              <a:t>Checkpoint</a:t>
            </a:r>
            <a:r>
              <a:rPr lang="zh-CN" altLang="en-US" dirty="0"/>
              <a:t>到网络中；</a:t>
            </a:r>
            <a:endParaRPr lang="en-US" altLang="zh-CN" dirty="0"/>
          </a:p>
          <a:p>
            <a:pPr lvl="1"/>
            <a:r>
              <a:rPr lang="zh-CN" altLang="en-US" dirty="0"/>
              <a:t>调用</a:t>
            </a:r>
            <a:r>
              <a:rPr lang="en-US" altLang="zh-CN" b="1" dirty="0" err="1"/>
              <a:t>model.predict</a:t>
            </a:r>
            <a:r>
              <a:rPr lang="en-US" altLang="zh-CN" b="1" dirty="0"/>
              <a:t>()</a:t>
            </a:r>
            <a:r>
              <a:rPr lang="zh-CN" altLang="en-US" dirty="0"/>
              <a:t>接口进行推理。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729175" y="1971414"/>
            <a:ext cx="10743794" cy="24622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CKPT_2 = 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'ckpt/lenet_1-2_1875.ckpt'</a:t>
            </a:r>
            <a:b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def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infer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(data_dir):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ds = create_dataset(data_dir,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training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False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).create_dict_iterator()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data = ds.get_next()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images = data[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'image'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]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labels = data[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'label'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]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net = LeNet5()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load_checkpoint(CKPT_2,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net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=net)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model = Model(net)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output = model.predict(Tensor(data[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'image'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]))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preds = np.argmax(output.asnumpy(),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axis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29175" y="4492349"/>
            <a:ext cx="10743794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lvl="0" indent="-168275" defTabSz="1187798"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1208088" algn="ctr"/>
              </a:tabLst>
            </a:pPr>
            <a:r>
              <a:rPr lang="zh-CN" altLang="en-US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使用其他平台做推理</a:t>
            </a:r>
            <a:endParaRPr lang="en-US" altLang="zh-CN" dirty="0">
              <a:solidFill>
                <a:srgbClr val="1D1D1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329026" lvl="1" indent="-168275" defTabSz="1187798">
              <a:spcAft>
                <a:spcPts val="600"/>
              </a:spcAft>
              <a:buClr>
                <a:srgbClr val="1D1D1A"/>
              </a:buClr>
              <a:buFont typeface=".AppleSystemUIFont"/>
              <a:buChar char="&gt;"/>
              <a:tabLst>
                <a:tab pos="1208088" algn="ctr"/>
              </a:tabLst>
            </a:pPr>
            <a:r>
              <a:rPr lang="zh-CN" altLang="en-US" sz="16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加载</a:t>
            </a:r>
            <a:r>
              <a:rPr lang="en-US" altLang="zh-CN" sz="16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Checkpoint</a:t>
            </a:r>
            <a:r>
              <a:rPr lang="zh-CN" altLang="en-US" sz="16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到网络中；</a:t>
            </a:r>
            <a:endParaRPr lang="en-US" altLang="zh-CN" sz="1600" dirty="0">
              <a:solidFill>
                <a:srgbClr val="1D1D1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29026" lvl="1" indent="-168275" defTabSz="1187798">
              <a:spcAft>
                <a:spcPts val="600"/>
              </a:spcAft>
              <a:buClr>
                <a:srgbClr val="1D1D1A"/>
              </a:buClr>
              <a:buFont typeface=".AppleSystemUIFont"/>
              <a:buChar char="&gt;"/>
              <a:tabLst>
                <a:tab pos="1208088" algn="ctr"/>
              </a:tabLst>
            </a:pPr>
            <a:r>
              <a:rPr lang="zh-CN" altLang="en-US" sz="16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调用</a:t>
            </a:r>
            <a:r>
              <a:rPr lang="en-US" altLang="zh-CN" sz="1600" b="1" dirty="0" err="1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mindspore.train.serialization</a:t>
            </a:r>
            <a:r>
              <a:rPr lang="zh-CN" altLang="en-US" sz="16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提供的</a:t>
            </a:r>
            <a:r>
              <a:rPr lang="en-US" altLang="zh-CN" sz="1600" b="1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export()</a:t>
            </a:r>
            <a:r>
              <a:rPr lang="zh-CN" altLang="en-US" sz="16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接口，导出</a:t>
            </a:r>
            <a:r>
              <a:rPr lang="en-US" altLang="zh-CN" sz="16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ONNX</a:t>
            </a:r>
            <a:r>
              <a:rPr lang="zh-CN" altLang="en-US" sz="16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等格式的模型文件；</a:t>
            </a:r>
            <a:endParaRPr lang="en-US" altLang="zh-CN" sz="1600" dirty="0">
              <a:solidFill>
                <a:srgbClr val="1D1D1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29026" lvl="1" indent="-168275" defTabSz="1187798">
              <a:spcAft>
                <a:spcPts val="600"/>
              </a:spcAft>
              <a:buClr>
                <a:srgbClr val="1D1D1A"/>
              </a:buClr>
              <a:buFont typeface=".AppleSystemUIFont"/>
              <a:buChar char="&gt;"/>
              <a:tabLst>
                <a:tab pos="1208088" algn="ctr"/>
              </a:tabLst>
            </a:pPr>
            <a:r>
              <a:rPr lang="zh-CN" altLang="en-US" sz="16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在任何支持</a:t>
            </a:r>
            <a:r>
              <a:rPr lang="en-US" altLang="zh-CN" sz="16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ONNX</a:t>
            </a:r>
            <a:r>
              <a:rPr lang="zh-CN" altLang="en-US" sz="16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模型文件的平台上进行推理。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26022" y="5801295"/>
            <a:ext cx="10743794" cy="5232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input = np.random.uniform(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0.0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1.0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size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[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3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224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224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]).astype(np.float32)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export(resnet, Tensor(input),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file_name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'resnet50-2_32.pb'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file_format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'ONNX'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157681" y="3534016"/>
            <a:ext cx="4504888" cy="65209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798353" y="6062905"/>
            <a:ext cx="8219812" cy="234892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6752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部署推理服务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2"/>
          </p:nvPr>
        </p:nvSpPr>
        <p:spPr>
          <a:xfrm>
            <a:off x="726021" y="1512875"/>
            <a:ext cx="10743794" cy="1565885"/>
          </a:xfrm>
        </p:spPr>
        <p:txBody>
          <a:bodyPr/>
          <a:lstStyle/>
          <a:p>
            <a:r>
              <a:rPr lang="en-US" altLang="zh-CN" dirty="0" err="1"/>
              <a:t>MindSpore</a:t>
            </a:r>
            <a:r>
              <a:rPr lang="en-US" altLang="zh-CN" dirty="0"/>
              <a:t> Serving</a:t>
            </a:r>
            <a:r>
              <a:rPr lang="zh-CN" altLang="en-US" dirty="0"/>
              <a:t>是一个轻量级、高性能的服务模块，旨在帮助</a:t>
            </a:r>
            <a:r>
              <a:rPr lang="en-US" altLang="zh-CN" dirty="0" err="1"/>
              <a:t>MindSpore</a:t>
            </a:r>
            <a:r>
              <a:rPr lang="zh-CN" altLang="en-US" dirty="0"/>
              <a:t>开发者在生产环境中高效部署在线推理服务。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-US" altLang="zh-CN" dirty="0" err="1"/>
              <a:t>MindSpore</a:t>
            </a:r>
            <a:r>
              <a:rPr lang="zh-CN" altLang="en-US" dirty="0"/>
              <a:t>完成模型训练；</a:t>
            </a:r>
            <a:endParaRPr lang="en-US" altLang="zh-CN" dirty="0"/>
          </a:p>
          <a:p>
            <a:pPr lvl="1"/>
            <a:r>
              <a:rPr lang="zh-CN" altLang="en-US" dirty="0"/>
              <a:t>导出</a:t>
            </a:r>
            <a:r>
              <a:rPr lang="en-US" altLang="zh-CN" dirty="0" err="1"/>
              <a:t>MindSpore</a:t>
            </a:r>
            <a:r>
              <a:rPr lang="zh-CN" altLang="en-US" dirty="0"/>
              <a:t>模型（</a:t>
            </a:r>
            <a:r>
              <a:rPr lang="en-US" altLang="zh-CN" dirty="0"/>
              <a:t>BINARY</a:t>
            </a:r>
            <a:r>
              <a:rPr lang="zh-CN" altLang="en-US" dirty="0"/>
              <a:t>格式）；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-US" altLang="zh-CN" dirty="0" err="1"/>
              <a:t>MindSpore</a:t>
            </a:r>
            <a:r>
              <a:rPr lang="en-US" altLang="zh-CN" dirty="0"/>
              <a:t> Serving</a:t>
            </a:r>
            <a:r>
              <a:rPr lang="zh-CN" altLang="en-US" dirty="0"/>
              <a:t>创建推理服务。</a:t>
            </a:r>
          </a:p>
        </p:txBody>
      </p:sp>
      <p:sp>
        <p:nvSpPr>
          <p:cNvPr id="6" name="矩形 5"/>
          <p:cNvSpPr/>
          <p:nvPr/>
        </p:nvSpPr>
        <p:spPr>
          <a:xfrm>
            <a:off x="726020" y="3139906"/>
            <a:ext cx="1074379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Consolas" panose="020B0609020204030204" pitchFamily="49" charset="0"/>
              </a:rPr>
              <a:t>ms_serving</a:t>
            </a:r>
            <a:r>
              <a:rPr lang="en-US" altLang="zh-CN" sz="1400" dirty="0">
                <a:latin typeface="Consolas" panose="020B0609020204030204" pitchFamily="49" charset="0"/>
              </a:rPr>
              <a:t> [--help] [--</a:t>
            </a:r>
            <a:r>
              <a:rPr lang="en-US" altLang="zh-CN" sz="1400" dirty="0" err="1">
                <a:latin typeface="Consolas" panose="020B0609020204030204" pitchFamily="49" charset="0"/>
              </a:rPr>
              <a:t>model_path</a:t>
            </a:r>
            <a:r>
              <a:rPr lang="en-US" altLang="zh-CN" sz="1400" dirty="0">
                <a:latin typeface="Consolas" panose="020B0609020204030204" pitchFamily="49" charset="0"/>
              </a:rPr>
              <a:t> &lt;MODEL_PATH&gt;] [--</a:t>
            </a:r>
            <a:r>
              <a:rPr lang="en-US" altLang="zh-CN" sz="1400" dirty="0" err="1">
                <a:latin typeface="Consolas" panose="020B0609020204030204" pitchFamily="49" charset="0"/>
              </a:rPr>
              <a:t>model_name</a:t>
            </a:r>
            <a:r>
              <a:rPr lang="en-US" altLang="zh-CN" sz="1400" dirty="0">
                <a:latin typeface="Consolas" panose="020B0609020204030204" pitchFamily="49" charset="0"/>
              </a:rPr>
              <a:t> &lt;MODEL_NAME&gt;]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[--port &lt;PORT&gt;] [--</a:t>
            </a:r>
            <a:r>
              <a:rPr lang="en-US" altLang="zh-CN" sz="1400" dirty="0" err="1">
                <a:latin typeface="Consolas" panose="020B0609020204030204" pitchFamily="49" charset="0"/>
              </a:rPr>
              <a:t>device_id</a:t>
            </a:r>
            <a:r>
              <a:rPr lang="en-US" altLang="zh-CN" sz="1400" dirty="0">
                <a:latin typeface="Consolas" panose="020B0609020204030204" pitchFamily="49" charset="0"/>
              </a:rPr>
              <a:t> &lt;DEVICE_ID&gt;]</a:t>
            </a:r>
          </a:p>
        </p:txBody>
      </p:sp>
      <p:sp>
        <p:nvSpPr>
          <p:cNvPr id="8" name="矩形 7"/>
          <p:cNvSpPr/>
          <p:nvPr/>
        </p:nvSpPr>
        <p:spPr>
          <a:xfrm>
            <a:off x="729175" y="5890980"/>
            <a:ext cx="107437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教程：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https://www.mindspore.cn/tutorial/inference/zh-CN/r1.0/index.html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555094"/>
              </p:ext>
            </p:extLst>
          </p:nvPr>
        </p:nvGraphicFramePr>
        <p:xfrm>
          <a:off x="729174" y="3778566"/>
          <a:ext cx="10743793" cy="1881636"/>
        </p:xfrm>
        <a:graphic>
          <a:graphicData uri="http://schemas.openxmlformats.org/drawingml/2006/table">
            <a:tbl>
              <a:tblPr/>
              <a:tblGrid>
                <a:gridCol w="3247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51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19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77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1787">
                <a:tc>
                  <a:txBody>
                    <a:bodyPr/>
                    <a:lstStyle/>
                    <a:p>
                      <a:r>
                        <a:rPr lang="zh-CN" altLang="en-US"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参数名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参数类型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默认值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取值范围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55">
                <a:tc>
                  <a:txBody>
                    <a:bodyPr/>
                    <a:lstStyle/>
                    <a:p>
                      <a:pPr fontAlgn="ctr" latinLnBrk="1"/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--help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1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可选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1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显示启动命令的帮助信息。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1"/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1"/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1"/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55">
                <a:tc>
                  <a:txBody>
                    <a:bodyPr/>
                    <a:lstStyle/>
                    <a:p>
                      <a:pPr fontAlgn="ctr" latinLnBrk="1"/>
                      <a:r>
                        <a:rPr 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--model_path &lt;MODEL_PATH&gt;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1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必选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1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指定待加载模型的存放路径。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1"/>
                      <a:r>
                        <a:rPr 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str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1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1"/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55">
                <a:tc>
                  <a:txBody>
                    <a:bodyPr/>
                    <a:lstStyle/>
                    <a:p>
                      <a:pPr fontAlgn="ctr" latinLnBrk="1"/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r>
                        <a:rPr lang="en-US" sz="1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model_name</a:t>
                      </a:r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&lt;MODEL_NAME&gt;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1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必选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1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指定待加载模型的文件名。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1"/>
                      <a:r>
                        <a:rPr 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str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1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1"/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255">
                <a:tc>
                  <a:txBody>
                    <a:bodyPr/>
                    <a:lstStyle/>
                    <a:p>
                      <a:pPr fontAlgn="ctr" latinLnBrk="1"/>
                      <a:r>
                        <a:rPr 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--port &lt;PORT&gt;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1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可选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1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指定</a:t>
                      </a:r>
                      <a:r>
                        <a:rPr 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Serving</a:t>
                      </a:r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对外的端口号。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1"/>
                      <a:r>
                        <a:rPr 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1"/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5500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1"/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1~65535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255">
                <a:tc>
                  <a:txBody>
                    <a:bodyPr/>
                    <a:lstStyle/>
                    <a:p>
                      <a:pPr fontAlgn="ctr" latinLnBrk="1"/>
                      <a:r>
                        <a:rPr 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--device_id &lt;DEVICE_ID&gt;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1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可选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1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指定使用的设备号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1"/>
                      <a:r>
                        <a:rPr 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1"/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1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0~7</a:t>
                      </a:r>
                    </a:p>
                  </a:txBody>
                  <a:tcPr marL="100246" marR="100246" marT="50123" marB="50123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43251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10D792-4102-9E49-9911-6FCBEA89B2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33620" y="1843088"/>
            <a:ext cx="10122060" cy="4170534"/>
          </a:xfrm>
        </p:spPr>
        <p:txBody>
          <a:bodyPr/>
          <a:lstStyle/>
          <a:p>
            <a:r>
              <a:rPr lang="zh-CN" altLang="en-US" dirty="0"/>
              <a:t>编程概念</a:t>
            </a:r>
            <a:endParaRPr lang="en-US" altLang="zh-CN" dirty="0"/>
          </a:p>
          <a:p>
            <a:r>
              <a:rPr lang="zh-CN" altLang="en-US" dirty="0"/>
              <a:t>案例介绍</a:t>
            </a:r>
            <a:endParaRPr lang="en-US" altLang="zh-CN" dirty="0"/>
          </a:p>
          <a:p>
            <a:r>
              <a:rPr lang="zh-CN" altLang="en-US" dirty="0"/>
              <a:t>数据处理</a:t>
            </a:r>
            <a:endParaRPr lang="en-US" altLang="zh-CN" dirty="0"/>
          </a:p>
          <a:p>
            <a:r>
              <a:rPr lang="zh-CN" altLang="en-US" dirty="0">
                <a:solidFill>
                  <a:srgbClr val="000000"/>
                </a:solidFill>
              </a:rPr>
              <a:t>定义模型</a:t>
            </a:r>
            <a:endParaRPr lang="en-US" altLang="zh-CN" dirty="0">
              <a:solidFill>
                <a:srgbClr val="000000"/>
              </a:solidFill>
            </a:endParaRPr>
          </a:p>
          <a:p>
            <a:r>
              <a:rPr lang="zh-CN" altLang="en-US" dirty="0"/>
              <a:t>模型训练</a:t>
            </a:r>
            <a:endParaRPr lang="en-US" altLang="zh-CN" dirty="0"/>
          </a:p>
          <a:p>
            <a:r>
              <a:rPr lang="zh-CN" altLang="en-US" dirty="0"/>
              <a:t>模型推理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网络迁移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417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副标题 2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编程接口对比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4319628" y="6296290"/>
            <a:ext cx="1220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MindSpore</a:t>
            </a:r>
            <a:endParaRPr lang="zh-CN" altLang="en-US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203532" y="444929"/>
            <a:ext cx="3675063" cy="5847755"/>
          </a:xfrm>
          <a:prstGeom prst="rect">
            <a:avLst/>
          </a:prstGeom>
          <a:solidFill>
            <a:srgbClr val="56C4D2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class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Net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(nn.Module):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def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B200B2"/>
                </a:solidFill>
                <a:effectLst/>
                <a:latin typeface="Consolas" panose="020B0609020204030204" pitchFamily="49" charset="0"/>
                <a:ea typeface="JetBrains Mono"/>
              </a:rPr>
              <a:t>__init__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):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JetBrains Mono"/>
              </a:rPr>
              <a:t>super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(Net,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).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B200B2"/>
                </a:solidFill>
                <a:effectLst/>
                <a:latin typeface="Consolas" panose="020B0609020204030204" pitchFamily="49" charset="0"/>
                <a:ea typeface="JetBrains Mono"/>
              </a:rPr>
              <a:t>__init__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.conv1 = nn.Conv2d()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.fc1 = nn.Linear()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def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forward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x):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x =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.conv1(x)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x = F.relu(x)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x =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.fc1(x)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return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x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net = Net()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loss_fn = nn.CrossEntropyLoss()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opt = optim.SGD(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momentum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0.9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dataset = torchvision.datasets.CIFAR10()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loader = torch.utils.data.DataLoader(dataset)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for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epoch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JetBrains Mono"/>
              </a:rPr>
              <a:t>range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5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):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for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i, data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JetBrains Mono"/>
              </a:rPr>
              <a:t>enumerate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(loader,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0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):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opt.zero_grad()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outputs = net(data[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0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])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loss = loss_fn(outputs, data[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])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loss.backward()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opt.step()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with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torch.no_grad():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for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data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dataloader: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outputs = net(data[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0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])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_, pred = torch.max(outputs.data,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total += data[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].size(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0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correct += (pred == labels).sum().item()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acc =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100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* correct / total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203533" y="6296290"/>
            <a:ext cx="902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Pytorch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320395" y="1449534"/>
            <a:ext cx="77941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MindSpore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API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和编程风格与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tf.keras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Pytorch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类似，上手和迁移容易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18678" y="2137700"/>
            <a:ext cx="3792107" cy="4154984"/>
          </a:xfrm>
          <a:prstGeom prst="rect">
            <a:avLst/>
          </a:prstGeom>
          <a:solidFill>
            <a:srgbClr val="56C4D2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class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Net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(tf.keras.Model):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def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B200B2"/>
                </a:solidFill>
                <a:effectLst/>
                <a:latin typeface="Consolas" panose="020B0609020204030204" pitchFamily="49" charset="0"/>
                <a:ea typeface="JetBrains Mono"/>
              </a:rPr>
              <a:t>__init__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):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JetBrains Mono"/>
              </a:rPr>
              <a:t>super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(MyModel,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).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B200B2"/>
                </a:solidFill>
                <a:effectLst/>
                <a:latin typeface="Consolas" panose="020B0609020204030204" pitchFamily="49" charset="0"/>
                <a:ea typeface="JetBrains Mono"/>
              </a:rPr>
              <a:t>__init__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.conv1 = tf.keras.layers.Conv2D()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.relu = tf.keras.layers.ReLU()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.fc1 = tf.keras.layers.Dense()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def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call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x):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x =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.conv1(x)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x =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.relu(x)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x =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.fc1(x)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return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x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model = Net()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loss_fn = tf.keras.losses.SparseCategoricalCrossentropy()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opt = tf.keras.optimizers.Adam()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data = tf.keras.datasets.cifar10.load_data()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model.compile(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optimizer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=opt,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loss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=loss_fn,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metrics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=[</a:t>
            </a:r>
            <a:r>
              <a:rPr kumimoji="0" lang="zh-CN" altLang="zh-CN" sz="11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'accuracy'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])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model.fit(data[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0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], data[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],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5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model.evaluate(data[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0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], data[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])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20394" y="6296290"/>
            <a:ext cx="1745734" cy="369332"/>
          </a:xfrm>
          <a:prstGeom prst="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/>
          <a:p>
            <a:r>
              <a:rPr lang="en-US" altLang="zh-CN" dirty="0" err="1"/>
              <a:t>Tensorflow.keras</a:t>
            </a:r>
            <a:endParaRPr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319628" y="2137700"/>
            <a:ext cx="3675063" cy="4154984"/>
          </a:xfrm>
          <a:prstGeom prst="rect">
            <a:avLst/>
          </a:prstGeom>
          <a:solidFill>
            <a:srgbClr val="56C4D2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class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Net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(nn.Cell):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def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B200B2"/>
                </a:solidFill>
                <a:effectLst/>
                <a:latin typeface="Consolas" panose="020B0609020204030204" pitchFamily="49" charset="0"/>
                <a:ea typeface="JetBrains Mono"/>
              </a:rPr>
              <a:t>__init__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):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JetBrains Mono"/>
              </a:rPr>
              <a:t>super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(Net,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).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B200B2"/>
                </a:solidFill>
                <a:effectLst/>
                <a:latin typeface="Consolas" panose="020B0609020204030204" pitchFamily="49" charset="0"/>
                <a:ea typeface="JetBrains Mono"/>
              </a:rPr>
              <a:t>__init__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.conv1 = nn.Conv2d()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.relu = nn.ReLU()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.fc1 = nn.Dense()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def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construct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x):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x =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.conv1(x)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x =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.relu(x)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x =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JetBrains Mono"/>
              </a:rPr>
              <a:t>self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.fc1(x)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return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x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net = Net()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loss_fn = nn.loss.SoftmaxCrossEntropyWithLogits()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opt = nn.Momentum()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dataset = dataset.Cifar10Dataset()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model = train.Model(net, loss_fn, opt,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JetBrains Mono"/>
              </a:rPr>
              <a:t>metrics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={</a:t>
            </a:r>
            <a:r>
              <a:rPr kumimoji="0" lang="zh-CN" altLang="zh-CN" sz="11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ea typeface="JetBrains Mono"/>
              </a:rPr>
              <a:t>'acc'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model.train(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5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dataset)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model.eval(dataset)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491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网络迁移</a:t>
            </a:r>
          </a:p>
        </p:txBody>
      </p:sp>
      <p:sp>
        <p:nvSpPr>
          <p:cNvPr id="4" name="矩形 3"/>
          <p:cNvSpPr/>
          <p:nvPr/>
        </p:nvSpPr>
        <p:spPr>
          <a:xfrm>
            <a:off x="726945" y="5729585"/>
            <a:ext cx="107428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映射：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https://www.mindspore.cn/doc/note/zh-CN/r1.0/index.html#operator_api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迁移教程及工具：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https://www.mindspore.cn/tutorial/training/zh-CN/r1.0/advanced_use/migrate_script.html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75" y="1014959"/>
            <a:ext cx="10742869" cy="471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2319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 lIns="0" tIns="0" rIns="0" bIns="0" anchor="t"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参与社区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MindSpore</a:t>
            </a:r>
            <a:r>
              <a:rPr lang="zh-CN" altLang="en-US" dirty="0"/>
              <a:t>社区：</a:t>
            </a:r>
            <a:r>
              <a:rPr lang="en-US" altLang="zh-CN" dirty="0">
                <a:hlinkClick r:id="rId2"/>
              </a:rPr>
              <a:t>https://www.mindspore.cn/community</a:t>
            </a:r>
            <a:endParaRPr lang="en-US" altLang="zh-CN" dirty="0"/>
          </a:p>
          <a:p>
            <a:r>
              <a:rPr lang="en-US" altLang="zh-CN" dirty="0" err="1"/>
              <a:t>MindSpore</a:t>
            </a:r>
            <a:r>
              <a:rPr lang="zh-CN" altLang="en-US" dirty="0"/>
              <a:t>课程：</a:t>
            </a:r>
            <a:r>
              <a:rPr lang="en-US" altLang="zh-CN" dirty="0">
                <a:hlinkClick r:id="rId3"/>
              </a:rPr>
              <a:t>https://gitee.com/mindspore/course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官方交流</a:t>
            </a:r>
            <a:r>
              <a:rPr lang="en-US" altLang="zh-CN" dirty="0"/>
              <a:t>QQ</a:t>
            </a:r>
            <a:r>
              <a:rPr lang="zh-CN" altLang="en-US" dirty="0"/>
              <a:t>群：</a:t>
            </a:r>
            <a:r>
              <a:rPr lang="en-US" altLang="zh-CN" dirty="0"/>
              <a:t>871543426</a:t>
            </a:r>
          </a:p>
          <a:p>
            <a:r>
              <a:rPr lang="zh-CN" altLang="en-US" dirty="0"/>
              <a:t>官方微信公众号：</a:t>
            </a:r>
            <a:r>
              <a:rPr lang="en-US" altLang="zh-CN" dirty="0" err="1"/>
              <a:t>MindSpore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高校开发者微信群：添加微信</a:t>
            </a:r>
            <a:r>
              <a:rPr lang="en-US" altLang="zh-CN" dirty="0"/>
              <a:t>mindspore0328</a:t>
            </a:r>
            <a:r>
              <a:rPr lang="zh-CN" altLang="en-US" dirty="0"/>
              <a:t>，备注“开发者”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6" name="圆角矩形 244"/>
          <p:cNvSpPr/>
          <p:nvPr/>
        </p:nvSpPr>
        <p:spPr>
          <a:xfrm>
            <a:off x="5461619" y="1057678"/>
            <a:ext cx="5648702" cy="2281375"/>
          </a:xfrm>
          <a:prstGeom prst="roundRect">
            <a:avLst>
              <a:gd name="adj" fmla="val 2392"/>
            </a:avLst>
          </a:prstGeom>
          <a:solidFill>
            <a:srgbClr val="3B3A3A"/>
          </a:solidFill>
          <a:ln w="12700">
            <a:miter lim="400000"/>
          </a:ln>
          <a:effectLst>
            <a:outerShdw blurRad="101600" dist="12700" dir="5400000" rotWithShape="0">
              <a:srgbClr val="000000">
                <a:alpha val="20000"/>
              </a:srgbClr>
            </a:outerShdw>
          </a:effectLst>
        </p:spPr>
        <p:txBody>
          <a:bodyPr lIns="26135" tIns="26135" rIns="26135" bIns="26135" anchor="ctr"/>
          <a:lstStyle/>
          <a:p>
            <a:pPr marL="0" marR="0" lvl="0" indent="0" defTabSz="2617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400" b="0"/>
            </a:pPr>
            <a:endParaRPr kumimoji="0" sz="918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" name="圆角矩形 244"/>
          <p:cNvSpPr/>
          <p:nvPr/>
        </p:nvSpPr>
        <p:spPr>
          <a:xfrm>
            <a:off x="936654" y="1057678"/>
            <a:ext cx="4000098" cy="2281375"/>
          </a:xfrm>
          <a:prstGeom prst="roundRect">
            <a:avLst>
              <a:gd name="adj" fmla="val 2392"/>
            </a:avLst>
          </a:prstGeom>
          <a:solidFill>
            <a:srgbClr val="3B3A3A"/>
          </a:solidFill>
          <a:ln w="12700">
            <a:miter lim="400000"/>
          </a:ln>
          <a:effectLst>
            <a:outerShdw blurRad="101600" dist="12700" dir="5400000" rotWithShape="0">
              <a:srgbClr val="000000">
                <a:alpha val="20000"/>
              </a:srgbClr>
            </a:outerShdw>
          </a:effectLst>
        </p:spPr>
        <p:txBody>
          <a:bodyPr lIns="26135" tIns="26135" rIns="26135" bIns="26135" anchor="ctr"/>
          <a:lstStyle/>
          <a:p>
            <a:pPr marL="0" marR="0" lvl="0" indent="0" defTabSz="2617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400" b="0"/>
            </a:pPr>
            <a:endParaRPr kumimoji="0" sz="918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" name="矩形 2"/>
          <p:cNvSpPr txBox="1"/>
          <p:nvPr/>
        </p:nvSpPr>
        <p:spPr>
          <a:xfrm>
            <a:off x="1417918" y="2899098"/>
            <a:ext cx="2691108" cy="383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344" rIns="12344">
            <a:spAutoFit/>
          </a:bodyPr>
          <a:lstStyle>
            <a:lvl1pPr defTabSz="1521354">
              <a:defRPr sz="7000">
                <a:solidFill>
                  <a:srgbClr val="FFFFFF"/>
                </a:solidFill>
              </a:defRPr>
            </a:lvl1pPr>
          </a:lstStyle>
          <a:p>
            <a:pPr marL="0" marR="0" lvl="0" indent="0" defTabSz="152135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9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https://www.mindspore.cn</a:t>
            </a:r>
          </a:p>
        </p:txBody>
      </p:sp>
      <p:sp>
        <p:nvSpPr>
          <p:cNvPr id="9" name="矩形 26"/>
          <p:cNvSpPr txBox="1"/>
          <p:nvPr/>
        </p:nvSpPr>
        <p:spPr>
          <a:xfrm>
            <a:off x="6837823" y="2901895"/>
            <a:ext cx="2896293" cy="383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344" rIns="12344">
            <a:spAutoFit/>
          </a:bodyPr>
          <a:lstStyle>
            <a:lvl1pPr defTabSz="1521354">
              <a:defRPr sz="7000">
                <a:solidFill>
                  <a:srgbClr val="FFFFFF"/>
                </a:solidFill>
              </a:defRPr>
            </a:lvl1pPr>
          </a:lstStyle>
          <a:p>
            <a:pPr marL="0" marR="0" lvl="0" indent="0" defTabSz="152135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9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https://gitee.com/mindspore</a:t>
            </a:r>
          </a:p>
        </p:txBody>
      </p:sp>
      <p:sp>
        <p:nvSpPr>
          <p:cNvPr id="11" name="形状"/>
          <p:cNvSpPr/>
          <p:nvPr/>
        </p:nvSpPr>
        <p:spPr>
          <a:xfrm>
            <a:off x="1337606" y="1494390"/>
            <a:ext cx="1525307" cy="1336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856"/>
                </a:moveTo>
                <a:lnTo>
                  <a:pt x="0" y="1856"/>
                </a:lnTo>
                <a:cubicBezTo>
                  <a:pt x="0" y="831"/>
                  <a:pt x="728" y="0"/>
                  <a:pt x="1627" y="0"/>
                </a:cubicBezTo>
                <a:lnTo>
                  <a:pt x="19973" y="0"/>
                </a:lnTo>
                <a:lnTo>
                  <a:pt x="19973" y="0"/>
                </a:lnTo>
                <a:cubicBezTo>
                  <a:pt x="20872" y="0"/>
                  <a:pt x="21600" y="831"/>
                  <a:pt x="21600" y="1856"/>
                </a:cubicBezTo>
                <a:lnTo>
                  <a:pt x="21600" y="19744"/>
                </a:lnTo>
                <a:lnTo>
                  <a:pt x="21600" y="19744"/>
                </a:lnTo>
                <a:cubicBezTo>
                  <a:pt x="21600" y="20769"/>
                  <a:pt x="20872" y="21600"/>
                  <a:pt x="19973" y="21600"/>
                </a:cubicBezTo>
                <a:lnTo>
                  <a:pt x="1627" y="21600"/>
                </a:lnTo>
                <a:lnTo>
                  <a:pt x="1627" y="21600"/>
                </a:lnTo>
                <a:cubicBezTo>
                  <a:pt x="728" y="21600"/>
                  <a:pt x="0" y="20769"/>
                  <a:pt x="0" y="19744"/>
                </a:cubicBezTo>
                <a:close/>
              </a:path>
            </a:pathLst>
          </a:custGeom>
          <a:solidFill>
            <a:srgbClr val="EDEDED"/>
          </a:solidFill>
          <a:ln w="12700" cap="flat">
            <a:noFill/>
            <a:miter lim="400000"/>
          </a:ln>
          <a:effectLst>
            <a:reflection stA="10000" endPos="40000" dir="5400000" sy="-100000" algn="bl" rotWithShape="0"/>
          </a:effectLst>
        </p:spPr>
        <p:txBody>
          <a:bodyPr wrap="square" lIns="12344" tIns="12344" rIns="12344" bIns="12344" numCol="1" anchor="ctr">
            <a:noAutofit/>
          </a:bodyPr>
          <a:lstStyle/>
          <a:p>
            <a:pPr defTabSz="410766">
              <a:defRPr sz="6200">
                <a:latin typeface="DengXian"/>
                <a:ea typeface="DengXian"/>
                <a:cs typeface="DengXian"/>
                <a:sym typeface="DengXian"/>
              </a:defRPr>
            </a:pPr>
            <a:endParaRPr sz="1674">
              <a:solidFill>
                <a:prstClr val="black"/>
              </a:solidFill>
              <a:latin typeface="DengXian"/>
              <a:ea typeface="DengXian"/>
              <a:cs typeface="DengXian"/>
              <a:sym typeface="DengXian"/>
            </a:endParaRPr>
          </a:p>
        </p:txBody>
      </p:sp>
      <p:pic>
        <p:nvPicPr>
          <p:cNvPr id="12" name="image36.png" descr="image36.png"/>
          <p:cNvPicPr>
            <a:picLocks noChangeAspect="1"/>
          </p:cNvPicPr>
          <p:nvPr/>
        </p:nvPicPr>
        <p:blipFill>
          <a:blip r:embed="rId4"/>
          <a:srcRect r="2"/>
          <a:stretch>
            <a:fillRect/>
          </a:stretch>
        </p:blipFill>
        <p:spPr>
          <a:xfrm>
            <a:off x="1337606" y="1494390"/>
            <a:ext cx="1525263" cy="1336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7" y="0"/>
                </a:moveTo>
                <a:cubicBezTo>
                  <a:pt x="728" y="0"/>
                  <a:pt x="0" y="831"/>
                  <a:pt x="0" y="1856"/>
                </a:cubicBezTo>
                <a:lnTo>
                  <a:pt x="0" y="19744"/>
                </a:lnTo>
                <a:cubicBezTo>
                  <a:pt x="0" y="20769"/>
                  <a:pt x="728" y="21600"/>
                  <a:pt x="1627" y="21600"/>
                </a:cubicBezTo>
                <a:lnTo>
                  <a:pt x="19973" y="21600"/>
                </a:lnTo>
                <a:cubicBezTo>
                  <a:pt x="20872" y="21600"/>
                  <a:pt x="21600" y="20769"/>
                  <a:pt x="21600" y="19744"/>
                </a:cubicBezTo>
                <a:lnTo>
                  <a:pt x="21600" y="1856"/>
                </a:lnTo>
                <a:cubicBezTo>
                  <a:pt x="21600" y="831"/>
                  <a:pt x="20872" y="0"/>
                  <a:pt x="19973" y="0"/>
                </a:cubicBezTo>
                <a:lnTo>
                  <a:pt x="1627" y="0"/>
                </a:lnTo>
                <a:close/>
              </a:path>
            </a:pathLst>
          </a:custGeom>
          <a:ln w="12700" cap="flat">
            <a:noFill/>
            <a:miter lim="400000"/>
          </a:ln>
          <a:effectLst>
            <a:reflection stA="38000" endPos="40000" dir="5400000" sy="-100000" algn="bl" rotWithShape="0"/>
          </a:effectLst>
        </p:spPr>
      </p:pic>
      <p:pic>
        <p:nvPicPr>
          <p:cNvPr id="13" name="image37.png" descr="image37.png"/>
          <p:cNvPicPr>
            <a:picLocks noChangeAspect="1"/>
          </p:cNvPicPr>
          <p:nvPr/>
        </p:nvPicPr>
        <p:blipFill>
          <a:blip r:embed="rId5"/>
          <a:srcRect b="2"/>
          <a:stretch>
            <a:fillRect/>
          </a:stretch>
        </p:blipFill>
        <p:spPr>
          <a:xfrm>
            <a:off x="5870258" y="1503872"/>
            <a:ext cx="3209009" cy="1322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71" y="0"/>
                </a:moveTo>
                <a:cubicBezTo>
                  <a:pt x="166" y="0"/>
                  <a:pt x="0" y="403"/>
                  <a:pt x="0" y="900"/>
                </a:cubicBezTo>
                <a:lnTo>
                  <a:pt x="0" y="20700"/>
                </a:lnTo>
                <a:cubicBezTo>
                  <a:pt x="0" y="21197"/>
                  <a:pt x="166" y="21600"/>
                  <a:pt x="371" y="21600"/>
                </a:cubicBezTo>
                <a:lnTo>
                  <a:pt x="21229" y="21600"/>
                </a:lnTo>
                <a:cubicBezTo>
                  <a:pt x="21434" y="21600"/>
                  <a:pt x="21600" y="21197"/>
                  <a:pt x="21600" y="20700"/>
                </a:cubicBezTo>
                <a:lnTo>
                  <a:pt x="21600" y="900"/>
                </a:lnTo>
                <a:cubicBezTo>
                  <a:pt x="21600" y="403"/>
                  <a:pt x="21434" y="0"/>
                  <a:pt x="21229" y="0"/>
                </a:cubicBezTo>
                <a:lnTo>
                  <a:pt x="371" y="0"/>
                </a:lnTo>
                <a:close/>
              </a:path>
            </a:pathLst>
          </a:custGeom>
          <a:ln w="12700">
            <a:miter lim="400000"/>
          </a:ln>
          <a:effectLst>
            <a:reflection stA="10000" endPos="40000" dir="5400000" sy="-100000" algn="bl" rotWithShape="0"/>
          </a:effectLst>
        </p:spPr>
      </p:pic>
      <p:pic>
        <p:nvPicPr>
          <p:cNvPr id="14" name="Picture 2" descr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9445" y="1503872"/>
            <a:ext cx="1322236" cy="1322236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Picture 4" descr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1117" y="1501597"/>
            <a:ext cx="1322236" cy="1322236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文本占位符 16"/>
          <p:cNvSpPr txBox="1">
            <a:spLocks/>
          </p:cNvSpPr>
          <p:nvPr/>
        </p:nvSpPr>
        <p:spPr>
          <a:xfrm>
            <a:off x="2223032" y="1140064"/>
            <a:ext cx="1080880" cy="286694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defTabSz="868680" rtl="0" eaLnBrk="1" latinLnBrk="0" hangingPunct="1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6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官方网站</a:t>
            </a:r>
          </a:p>
        </p:txBody>
      </p:sp>
      <p:sp>
        <p:nvSpPr>
          <p:cNvPr id="17" name="文本占位符 16"/>
          <p:cNvSpPr/>
          <p:nvPr/>
        </p:nvSpPr>
        <p:spPr>
          <a:xfrm>
            <a:off x="7593897" y="1140064"/>
            <a:ext cx="1384144" cy="286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344" rIns="12344" anchor="ctr">
            <a:normAutofit fontScale="92500" lnSpcReduction="20000"/>
          </a:bodyPr>
          <a:lstStyle>
            <a:lvl1pPr defTabSz="868680">
              <a:lnSpc>
                <a:spcPct val="90000"/>
              </a:lnSpc>
              <a:spcBef>
                <a:spcPts val="900"/>
              </a:spcBef>
              <a:defRPr sz="6650" b="0">
                <a:solidFill>
                  <a:srgbClr val="FFFFFF"/>
                </a:solidFill>
                <a:latin typeface="FZLanTingHeiS-R-GB"/>
                <a:ea typeface="FZLanTingHeiS-R-GB"/>
                <a:cs typeface="FZLanTingHeiS-R-GB"/>
                <a:sym typeface="FZLanTingHeiS-R-GB"/>
              </a:defRPr>
            </a:lvl1pPr>
          </a:lstStyle>
          <a:p>
            <a:r>
              <a:rPr sz="1795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代码托管平台</a:t>
            </a:r>
            <a:endParaRPr sz="1795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45255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29" y="0"/>
            <a:ext cx="12203091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4"/>
          <a:srcRect t="2837" b="10632"/>
          <a:stretch/>
        </p:blipFill>
        <p:spPr>
          <a:xfrm>
            <a:off x="3976772" y="3192284"/>
            <a:ext cx="1606024" cy="22912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5"/>
          <a:srcRect t="2753" b="9213"/>
          <a:stretch/>
        </p:blipFill>
        <p:spPr>
          <a:xfrm>
            <a:off x="6616629" y="3201237"/>
            <a:ext cx="1606024" cy="228231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6"/>
          <a:srcRect t="3014" b="1682"/>
          <a:stretch/>
        </p:blipFill>
        <p:spPr>
          <a:xfrm>
            <a:off x="9270978" y="3217827"/>
            <a:ext cx="1606024" cy="226572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14697" y="1185661"/>
            <a:ext cx="814251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zh-CN" altLang="en-US" sz="3200" dirty="0">
                <a:solidFill>
                  <a:prstClr val="white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微信扫码，</a:t>
            </a:r>
            <a:r>
              <a:rPr kumimoji="1" lang="en-US" altLang="zh-CN" sz="3200" dirty="0">
                <a:solidFill>
                  <a:srgbClr val="FFCB00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10</a:t>
            </a:r>
            <a:r>
              <a:rPr kumimoji="1" lang="zh-CN" altLang="en-US" sz="3200" dirty="0">
                <a:solidFill>
                  <a:srgbClr val="FFCB00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秒</a:t>
            </a:r>
            <a:r>
              <a:rPr kumimoji="1" lang="zh-CN" altLang="en-US" sz="3200" dirty="0">
                <a:solidFill>
                  <a:prstClr val="white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关注</a:t>
            </a:r>
            <a:r>
              <a:rPr kumimoji="1" lang="en-US" altLang="zh-CN" sz="3200" dirty="0" err="1">
                <a:solidFill>
                  <a:prstClr val="white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MindSpore</a:t>
            </a:r>
            <a:r>
              <a:rPr kumimoji="1" lang="zh-CN" altLang="en-US" sz="3200" dirty="0">
                <a:solidFill>
                  <a:prstClr val="white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项目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193074" y="2220483"/>
            <a:ext cx="1950720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700" dirty="0">
                <a:solidFill>
                  <a:prstClr val="white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微信扫描</a:t>
            </a:r>
            <a:r>
              <a:rPr kumimoji="1" lang="zh-CN" altLang="en-US" sz="1700" dirty="0">
                <a:solidFill>
                  <a:srgbClr val="FFCB00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二维码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457409" y="2220483"/>
            <a:ext cx="1950720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700" dirty="0">
                <a:solidFill>
                  <a:prstClr val="white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点击</a:t>
            </a:r>
            <a:r>
              <a:rPr kumimoji="1" lang="zh-CN" altLang="en-US" sz="1700" dirty="0">
                <a:solidFill>
                  <a:srgbClr val="FFCB00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微信一键注册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9105629" y="2220483"/>
            <a:ext cx="1950720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700" dirty="0">
                <a:solidFill>
                  <a:prstClr val="white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点击</a:t>
            </a:r>
            <a:r>
              <a:rPr kumimoji="1" lang="en-US" altLang="zh-CN" sz="1700" dirty="0">
                <a:solidFill>
                  <a:srgbClr val="FFCB00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Star</a:t>
            </a:r>
            <a:r>
              <a:rPr kumimoji="1" lang="zh-CN" altLang="en-US" sz="1700" dirty="0">
                <a:solidFill>
                  <a:prstClr val="white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与</a:t>
            </a:r>
            <a:r>
              <a:rPr kumimoji="1" lang="en-US" altLang="zh-CN" sz="1700" dirty="0">
                <a:solidFill>
                  <a:srgbClr val="FFCB00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Watch</a:t>
            </a:r>
            <a:endParaRPr kumimoji="1" lang="zh-CN" altLang="en-US" sz="1700" dirty="0">
              <a:solidFill>
                <a:srgbClr val="FFCB00"/>
              </a:solidFill>
              <a:latin typeface="方正兰亭粗黑简体" panose="02000000000000000000" pitchFamily="2" charset="-122"/>
              <a:ea typeface="方正兰亭粗黑简体" panose="02000000000000000000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797749" y="2220483"/>
            <a:ext cx="1950720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700">
                <a:solidFill>
                  <a:prstClr val="white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点击</a:t>
            </a:r>
            <a:r>
              <a:rPr kumimoji="1" lang="en-US" altLang="zh-CN" sz="1700">
                <a:solidFill>
                  <a:srgbClr val="FFCB00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Star</a:t>
            </a:r>
            <a:endParaRPr kumimoji="1" lang="zh-CN" altLang="en-US" sz="1700" dirty="0">
              <a:solidFill>
                <a:srgbClr val="FFCB00"/>
              </a:solidFill>
              <a:latin typeface="方正兰亭粗黑简体" panose="02000000000000000000" pitchFamily="2" charset="-122"/>
              <a:ea typeface="方正兰亭粗黑简体" panose="02000000000000000000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348124" y="3591378"/>
            <a:ext cx="1545487" cy="15989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348123" y="3429000"/>
            <a:ext cx="1545487" cy="15348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8700" y="3471552"/>
            <a:ext cx="1481750" cy="146620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302278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THENA.CUSTOMXMLID" val="{BDF9C5B9-0453-43B6-8E7D-9E55187D5E0F}"/>
  <p:tag name="ATHENA.CUSTOMXMLCONTENT" val="&lt;?xml version=&quot;1.0&quot;?&gt;&lt;athena xmlns=&quot;http://schemas.microsoft.com/edu/athena&quot; version=&quot;0.1.3885.0&quot;&gt;&lt;timings duration=&quot;30069&quot;&gt;&lt;event time=&quot;2610&quot; type=&quot;OnNext&quot; clickIndex=&quot;1&quot; wacClickIndex=&quot;1&quot;/&gt;&lt;event time=&quot;4345&quot; type=&quot;OnNext&quot; clickIndex=&quot;2&quot; wacClickIndex=&quot;2&quot;/&gt;&lt;event time=&quot;6548&quot; type=&quot;OnNext&quot; clickIndex=&quot;3&quot; wacClickIndex=&quot;3&quot;/&gt;&lt;event time=&quot;8855&quot; type=&quot;OnNext&quot; clickIndex=&quot;4&quot; wacClickIndex=&quot;4&quot;/&gt;&lt;event time=&quot;11376&quot; type=&quot;OnNext&quot; clickIndex=&quot;5&quot; wacClickIndex=&quot;5&quot;/&gt;&lt;event time=&quot;14000&quot; type=&quot;OnNext&quot; clickIndex=&quot;6&quot; wacClickIndex=&quot;6&quot;/&gt;&lt;/timings&gt;&lt;/athena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THENA.CUSTOMXMLID" val="{E383A233-7502-4F52-AECD-77999D5A5669}"/>
  <p:tag name="ATHENA.CUSTOMXMLCONTENT" val="&lt;?xml version=&quot;1.0&quot;?&gt;&lt;athena xmlns=&quot;http://schemas.microsoft.com/edu/athena&quot; version=&quot;0.1.3885.0&quot;&gt;&lt;timings duration=&quot;13159&quot;/&gt;&lt;/athena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222653;"/>
</p:tagLst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58AC06C-4CE3-4A3F-B594-9738C68624A0}" vid="{77E3B732-DDF7-4011-B681-28F511DF8898}"/>
    </a:ext>
  </a:extLst>
</a:theme>
</file>

<file path=ppt/theme/theme2.xml><?xml version="1.0" encoding="utf-8"?>
<a:theme xmlns:a="http://schemas.openxmlformats.org/drawingml/2006/main" name="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58AC06C-4CE3-4A3F-B594-9738C68624A0}" vid="{002891D3-441F-4843-9EAC-D44E0F2301F5}"/>
    </a:ext>
  </a:extLst>
</a:theme>
</file>

<file path=ppt/theme/theme3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58AC06C-4CE3-4A3F-B594-9738C68624A0}" vid="{9E3EAF68-ABE1-42CC-9EED-BC9EE9E8453C}"/>
    </a:ext>
  </a:extLst>
</a:theme>
</file>

<file path=ppt/theme/theme4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58AC06C-4CE3-4A3F-B594-9738C68624A0}" vid="{AFFA82CF-250F-4604-B0DF-1F7FF8D51155}"/>
    </a:ext>
  </a:extLst>
</a:theme>
</file>

<file path=ppt/theme/theme5.xml><?xml version="1.0" encoding="utf-8"?>
<a:theme xmlns:a="http://schemas.openxmlformats.org/drawingml/2006/main" name="1_章节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58AC06C-4CE3-4A3F-B594-9738C68624A0}" vid="{9E3EAF68-ABE1-42CC-9EED-BC9EE9E8453C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athena xmlns="http://schemas.microsoft.com/edu/athena" version="0.1.3885.0">
  <timings duration="30069">
    <event time="2610" type="OnNext" clickIndex="1" wacClickIndex="1"/>
    <event time="4345" type="OnNext" clickIndex="2" wacClickIndex="2"/>
    <event time="6548" type="OnNext" clickIndex="3" wacClickIndex="3"/>
    <event time="8855" type="OnNext" clickIndex="4" wacClickIndex="4"/>
    <event time="11376" type="OnNext" clickIndex="5" wacClickIndex="5"/>
    <event time="14000" type="OnNext" clickIndex="6" wacClickIndex="6"/>
  </timings>
</athena>
</file>

<file path=customXml/item2.xml><?xml version="1.0" encoding="utf-8"?>
<athena xmlns="http://schemas.microsoft.com/edu/athena" version="0.1.3885.0">
  <timings duration="13159"/>
</athena>
</file>

<file path=customXml/itemProps1.xml><?xml version="1.0" encoding="utf-8"?>
<ds:datastoreItem xmlns:ds="http://schemas.openxmlformats.org/officeDocument/2006/customXml" ds:itemID="{21C86629-61AF-48F9-9A6C-4514A5504F69}">
  <ds:schemaRefs>
    <ds:schemaRef ds:uri="http://schemas.microsoft.com/edu/athena"/>
  </ds:schemaRefs>
</ds:datastoreItem>
</file>

<file path=customXml/itemProps2.xml><?xml version="1.0" encoding="utf-8"?>
<ds:datastoreItem xmlns:ds="http://schemas.openxmlformats.org/officeDocument/2006/customXml" ds:itemID="{5AC95E78-A9E3-4985-BBAF-3387B20D2BB9}">
  <ds:schemaRefs>
    <ds:schemaRef ds:uri="http://schemas.microsoft.com/edu/athen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PPT模板</Template>
  <TotalTime>23326</TotalTime>
  <Words>3623</Words>
  <Application>Microsoft Office PowerPoint</Application>
  <PresentationFormat>自定义</PresentationFormat>
  <Paragraphs>471</Paragraphs>
  <Slides>37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37</vt:i4>
      </vt:variant>
    </vt:vector>
  </HeadingPairs>
  <TitlesOfParts>
    <vt:vector size="63" baseType="lpstr">
      <vt:lpstr>.AppleSystemUIFont</vt:lpstr>
      <vt:lpstr>FZLanTingHeiS-R-GB</vt:lpstr>
      <vt:lpstr>JetBrains Mono</vt:lpstr>
      <vt:lpstr>SFMono-Regular</vt:lpstr>
      <vt:lpstr>DengXian</vt:lpstr>
      <vt:lpstr>DengXian</vt:lpstr>
      <vt:lpstr>等线 Light</vt:lpstr>
      <vt:lpstr>方正兰亭粗黑简体</vt:lpstr>
      <vt:lpstr>黑体</vt:lpstr>
      <vt:lpstr>宋体</vt:lpstr>
      <vt:lpstr>微软雅黑</vt:lpstr>
      <vt:lpstr>微软雅黑</vt:lpstr>
      <vt:lpstr>Arial</vt:lpstr>
      <vt:lpstr>Calibri</vt:lpstr>
      <vt:lpstr>Calibri Light</vt:lpstr>
      <vt:lpstr>Cambria Math</vt:lpstr>
      <vt:lpstr>Consolas</vt:lpstr>
      <vt:lpstr>Courier New</vt:lpstr>
      <vt:lpstr>Helvetica</vt:lpstr>
      <vt:lpstr>Times New Roman</vt:lpstr>
      <vt:lpstr>Wingdings</vt:lpstr>
      <vt:lpstr>封面页_图片版 </vt:lpstr>
      <vt:lpstr>目录页</vt:lpstr>
      <vt:lpstr>章节页</vt:lpstr>
      <vt:lpstr>结束页</vt:lpstr>
      <vt:lpstr>1_章节页</vt:lpstr>
      <vt:lpstr>MindSpore开发实践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zhuguohua (C)</dc:creator>
  <cp:lastModifiedBy>Yonghan Dong</cp:lastModifiedBy>
  <cp:revision>300</cp:revision>
  <dcterms:created xsi:type="dcterms:W3CDTF">2019-07-19T03:09:05Z</dcterms:created>
  <dcterms:modified xsi:type="dcterms:W3CDTF">2020-11-16T12:53:43Z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(3)Ew2w3bcHvzA1tJ9ixFDHQEVSpcDdDvYRZrS71uRqqY3DhLAYymWYACsAdduMqAdSkc1AwgYm
+zMi9YRdc+g8vQ6yQt8QEyvR963ZZSIjQqfMZwaiuKfs8xKR1yrBDuRyDsIt6jWuva8jUE0d
uDaChuYX8NNEO1A3gkMxWXy8x/FlC6kN/E1JB1D3hyQU4sJiCKtOYn1gNLOG7080hS2jUa01
2tDB1WVV+1Rl25qK0W</vt:lpwstr>
  </property>
  <property fmtid="{D5CDD505-2E9C-101B-9397-08002B2CF9AE}" pid="3" name="_2015_ms_pID_7253431">
    <vt:lpwstr>hhe4rzomDdgn8V1XGBuUgmlRJoFdKJGi54QqPvxk0lYs5fb69vE+uB
td521U8EnjbLWgO3GSOY7NiEAD6RLu0mYT8NVYyymnYKAuLsbxYW3AlFVjcXeGsU8kZhQ9nI
AKE/ywnVCkT/4sAdbR0bKWImeBKlasQ81SOWPgE/qQQRppcqqtmbW9EOj/faECHbI6ORMMWA
nfox/o+3NdxIsol8ilD/t7/5CVJ7D2O+0x/Q</vt:lpwstr>
  </property>
  <property fmtid="{D5CDD505-2E9C-101B-9397-08002B2CF9AE}" pid="4" name="_2015_ms_pID_7253432">
    <vt:lpwstr>8b/KnXcUNftk8JjvyiAFE1E=</vt:lpwstr>
  </property>
</Properties>
</file>